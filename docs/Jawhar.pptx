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Arimo" charset="1" panose="020B0604020202020204"/>
      <p:regular r:id="rId20"/>
    </p:embeddedFont>
    <p:embeddedFont>
      <p:font typeface="Arimo Bold" charset="1" panose="020B0704020202020204"/>
      <p:regular r:id="rId21"/>
    </p:embeddedFont>
    <p:embeddedFont>
      <p:font typeface="Forum" charset="1" panose="02000000000000000000"/>
      <p:regular r:id="rId22"/>
    </p:embeddedFont>
    <p:embeddedFont>
      <p:font typeface="Glacial Indifference Bold" charset="1" panose="00000800000000000000"/>
      <p:regular r:id="rId23"/>
    </p:embeddedFont>
    <p:embeddedFont>
      <p:font typeface="Arimo Italics" charset="1" panose="020B060402020209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notesSlides/notesSlide2.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fonts/font28.fntdata" Type="http://schemas.openxmlformats.org/officeDocument/2006/relationships/font"/><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notesSlides/notesSlide2.xml" Type="http://schemas.openxmlformats.org/officeDocument/2006/relationships/notesSlid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6.png" Type="http://schemas.openxmlformats.org/officeDocument/2006/relationships/image"/><Relationship Id="rId11" Target="../media/image27.svg" Type="http://schemas.openxmlformats.org/officeDocument/2006/relationships/image"/><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28.png" Type="http://schemas.openxmlformats.org/officeDocument/2006/relationships/image"/><Relationship Id="rId9" Target="../media/image2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2" Target="../notesSlides/notesSlide6.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svg" Type="http://schemas.openxmlformats.org/officeDocument/2006/relationships/image"/><Relationship Id="rId2" Target="../notesSlides/notesSlide8.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http://corpus.quran.com" TargetMode="External" Type="http://schemas.openxmlformats.org/officeDocument/2006/relationships/hyperlink"/><Relationship Id="rId9"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png" Type="http://schemas.openxmlformats.org/officeDocument/2006/relationships/image"/><Relationship Id="rId11" Target="../media/image41.svg" Type="http://schemas.openxmlformats.org/officeDocument/2006/relationships/image"/><Relationship Id="rId2" Target="../notesSlides/notesSlide9.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sp>
        <p:nvSpPr>
          <p:cNvPr name="Freeform 12" id="12"/>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3203627" y="4117436"/>
            <a:ext cx="11880745" cy="2052129"/>
          </a:xfrm>
          <a:custGeom>
            <a:avLst/>
            <a:gdLst/>
            <a:ahLst/>
            <a:cxnLst/>
            <a:rect r="r" b="b" t="t" l="l"/>
            <a:pathLst>
              <a:path h="2052129" w="11880745">
                <a:moveTo>
                  <a:pt x="0" y="0"/>
                </a:moveTo>
                <a:lnTo>
                  <a:pt x="11880746" y="0"/>
                </a:lnTo>
                <a:lnTo>
                  <a:pt x="11880746" y="2052128"/>
                </a:lnTo>
                <a:lnTo>
                  <a:pt x="0" y="20521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grpSp>
        <p:nvGrpSpPr>
          <p:cNvPr name="Group 12" id="12"/>
          <p:cNvGrpSpPr/>
          <p:nvPr/>
        </p:nvGrpSpPr>
        <p:grpSpPr>
          <a:xfrm rot="-1212129">
            <a:off x="7563121" y="2693293"/>
            <a:ext cx="11802582" cy="3316253"/>
            <a:chOff x="0" y="0"/>
            <a:chExt cx="13872883" cy="3897960"/>
          </a:xfrm>
        </p:grpSpPr>
        <p:sp>
          <p:nvSpPr>
            <p:cNvPr name="Freeform 13" id="13"/>
            <p:cNvSpPr/>
            <p:nvPr/>
          </p:nvSpPr>
          <p:spPr>
            <a:xfrm flipH="false" flipV="false" rot="0">
              <a:off x="0" y="0"/>
              <a:ext cx="13872845" cy="3898011"/>
            </a:xfrm>
            <a:custGeom>
              <a:avLst/>
              <a:gdLst/>
              <a:ahLst/>
              <a:cxnLst/>
              <a:rect r="r" b="b" t="t" l="l"/>
              <a:pathLst>
                <a:path h="3898011" w="13872845">
                  <a:moveTo>
                    <a:pt x="0" y="0"/>
                  </a:moveTo>
                  <a:lnTo>
                    <a:pt x="13872845" y="0"/>
                  </a:lnTo>
                  <a:lnTo>
                    <a:pt x="13872845" y="3898011"/>
                  </a:lnTo>
                  <a:lnTo>
                    <a:pt x="0" y="3898011"/>
                  </a:lnTo>
                  <a:lnTo>
                    <a:pt x="0" y="0"/>
                  </a:lnTo>
                  <a:close/>
                </a:path>
              </a:pathLst>
            </a:custGeom>
            <a:blipFill>
              <a:blip r:embed="rId6"/>
              <a:stretch>
                <a:fillRect l="0" t="-363" r="0" b="-362"/>
              </a:stretch>
            </a:blipFill>
          </p:spPr>
        </p:sp>
      </p:grpSp>
      <p:sp>
        <p:nvSpPr>
          <p:cNvPr name="Freeform 14" id="14"/>
          <p:cNvSpPr/>
          <p:nvPr/>
        </p:nvSpPr>
        <p:spPr>
          <a:xfrm flipH="false" flipV="false" rot="-3558101">
            <a:off x="-152269" y="5348794"/>
            <a:ext cx="13278111" cy="675977"/>
          </a:xfrm>
          <a:custGeom>
            <a:avLst/>
            <a:gdLst/>
            <a:ahLst/>
            <a:cxnLst/>
            <a:rect r="r" b="b" t="t" l="l"/>
            <a:pathLst>
              <a:path h="675977" w="13278111">
                <a:moveTo>
                  <a:pt x="0" y="0"/>
                </a:moveTo>
                <a:lnTo>
                  <a:pt x="13278111" y="0"/>
                </a:lnTo>
                <a:lnTo>
                  <a:pt x="13278111" y="675977"/>
                </a:lnTo>
                <a:lnTo>
                  <a:pt x="0" y="6759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6" id="16"/>
          <p:cNvSpPr/>
          <p:nvPr/>
        </p:nvSpPr>
        <p:spPr>
          <a:xfrm flipH="false" flipV="false" rot="0">
            <a:off x="2638401" y="2677401"/>
            <a:ext cx="1386833" cy="1469669"/>
          </a:xfrm>
          <a:custGeom>
            <a:avLst/>
            <a:gdLst/>
            <a:ahLst/>
            <a:cxnLst/>
            <a:rect r="r" b="b" t="t" l="l"/>
            <a:pathLst>
              <a:path h="1469669" w="1386833">
                <a:moveTo>
                  <a:pt x="0" y="0"/>
                </a:moveTo>
                <a:lnTo>
                  <a:pt x="1386833" y="0"/>
                </a:lnTo>
                <a:lnTo>
                  <a:pt x="1386833" y="1469670"/>
                </a:lnTo>
                <a:lnTo>
                  <a:pt x="0" y="146967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7" id="17"/>
          <p:cNvSpPr/>
          <p:nvPr/>
        </p:nvSpPr>
        <p:spPr>
          <a:xfrm flipH="false" flipV="false" rot="0">
            <a:off x="3756055" y="1654954"/>
            <a:ext cx="2730731" cy="4114800"/>
          </a:xfrm>
          <a:custGeom>
            <a:avLst/>
            <a:gdLst/>
            <a:ahLst/>
            <a:cxnLst/>
            <a:rect r="r" b="b" t="t" l="l"/>
            <a:pathLst>
              <a:path h="4114800" w="2730731">
                <a:moveTo>
                  <a:pt x="0" y="0"/>
                </a:moveTo>
                <a:lnTo>
                  <a:pt x="2730731" y="0"/>
                </a:lnTo>
                <a:lnTo>
                  <a:pt x="2730731"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8" id="18"/>
          <p:cNvSpPr/>
          <p:nvPr/>
        </p:nvSpPr>
        <p:spPr>
          <a:xfrm flipH="false" flipV="false" rot="0">
            <a:off x="-217953" y="3626303"/>
            <a:ext cx="5469467" cy="4114800"/>
          </a:xfrm>
          <a:custGeom>
            <a:avLst/>
            <a:gdLst/>
            <a:ahLst/>
            <a:cxnLst/>
            <a:rect r="r" b="b" t="t" l="l"/>
            <a:pathLst>
              <a:path h="4114800" w="5469467">
                <a:moveTo>
                  <a:pt x="0" y="0"/>
                </a:moveTo>
                <a:lnTo>
                  <a:pt x="5469467" y="0"/>
                </a:lnTo>
                <a:lnTo>
                  <a:pt x="5469467"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9" id="19"/>
          <p:cNvSpPr/>
          <p:nvPr/>
        </p:nvSpPr>
        <p:spPr>
          <a:xfrm flipH="false" flipV="false" rot="0">
            <a:off x="1333028" y="3330645"/>
            <a:ext cx="1183752" cy="1469669"/>
          </a:xfrm>
          <a:custGeom>
            <a:avLst/>
            <a:gdLst/>
            <a:ahLst/>
            <a:cxnLst/>
            <a:rect r="r" b="b" t="t" l="l"/>
            <a:pathLst>
              <a:path h="1469669" w="1183752">
                <a:moveTo>
                  <a:pt x="0" y="0"/>
                </a:moveTo>
                <a:lnTo>
                  <a:pt x="1183752" y="0"/>
                </a:lnTo>
                <a:lnTo>
                  <a:pt x="1183752" y="1469669"/>
                </a:lnTo>
                <a:lnTo>
                  <a:pt x="0" y="14696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0" id="20"/>
          <p:cNvSpPr/>
          <p:nvPr/>
        </p:nvSpPr>
        <p:spPr>
          <a:xfrm flipH="false" flipV="false" rot="0">
            <a:off x="1333028" y="5442594"/>
            <a:ext cx="1610271" cy="2088795"/>
          </a:xfrm>
          <a:custGeom>
            <a:avLst/>
            <a:gdLst/>
            <a:ahLst/>
            <a:cxnLst/>
            <a:rect r="r" b="b" t="t" l="l"/>
            <a:pathLst>
              <a:path h="2088795" w="1610271">
                <a:moveTo>
                  <a:pt x="0" y="0"/>
                </a:moveTo>
                <a:lnTo>
                  <a:pt x="1610272" y="0"/>
                </a:lnTo>
                <a:lnTo>
                  <a:pt x="1610272" y="2088795"/>
                </a:lnTo>
                <a:lnTo>
                  <a:pt x="0" y="208879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21" id="21"/>
          <p:cNvSpPr/>
          <p:nvPr/>
        </p:nvSpPr>
        <p:spPr>
          <a:xfrm flipH="false" flipV="false" rot="0">
            <a:off x="1333028" y="1654954"/>
            <a:ext cx="742086" cy="702958"/>
          </a:xfrm>
          <a:custGeom>
            <a:avLst/>
            <a:gdLst/>
            <a:ahLst/>
            <a:cxnLst/>
            <a:rect r="r" b="b" t="t" l="l"/>
            <a:pathLst>
              <a:path h="702958" w="742086">
                <a:moveTo>
                  <a:pt x="0" y="0"/>
                </a:moveTo>
                <a:lnTo>
                  <a:pt x="742086" y="0"/>
                </a:lnTo>
                <a:lnTo>
                  <a:pt x="742086" y="702958"/>
                </a:lnTo>
                <a:lnTo>
                  <a:pt x="0" y="70295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22" id="22"/>
          <p:cNvSpPr txBox="true"/>
          <p:nvPr/>
        </p:nvSpPr>
        <p:spPr>
          <a:xfrm rot="0">
            <a:off x="9077277" y="6796524"/>
            <a:ext cx="16303523" cy="433387"/>
          </a:xfrm>
          <a:prstGeom prst="rect">
            <a:avLst/>
          </a:prstGeom>
        </p:spPr>
        <p:txBody>
          <a:bodyPr anchor="t" rtlCol="false" tIns="0" lIns="0" bIns="0" rIns="0">
            <a:spAutoFit/>
          </a:bodyPr>
          <a:lstStyle/>
          <a:p>
            <a:pPr algn="l">
              <a:lnSpc>
                <a:spcPts val="3562"/>
              </a:lnSpc>
            </a:pPr>
            <a:r>
              <a:rPr lang="en-US" sz="2187">
                <a:solidFill>
                  <a:srgbClr val="746558"/>
                </a:solidFill>
                <a:latin typeface="Arimo"/>
                <a:ea typeface="Arimo"/>
                <a:cs typeface="Arimo"/>
                <a:sym typeface="Arimo"/>
              </a:rPr>
              <a:t>Presented by: </a:t>
            </a:r>
            <a:r>
              <a:rPr lang="en-US" sz="2187" b="true">
                <a:solidFill>
                  <a:srgbClr val="746558"/>
                </a:solidFill>
                <a:latin typeface="Arimo Bold"/>
                <a:ea typeface="Arimo Bold"/>
                <a:cs typeface="Arimo Bold"/>
                <a:sym typeface="Arimo Bold"/>
              </a:rPr>
              <a:t>Meher Ali </a:t>
            </a:r>
          </a:p>
        </p:txBody>
      </p:sp>
      <p:sp>
        <p:nvSpPr>
          <p:cNvPr name="TextBox 23" id="23"/>
          <p:cNvSpPr txBox="true"/>
          <p:nvPr/>
        </p:nvSpPr>
        <p:spPr>
          <a:xfrm rot="0">
            <a:off x="9077277" y="8045225"/>
            <a:ext cx="6470361" cy="433387"/>
          </a:xfrm>
          <a:prstGeom prst="rect">
            <a:avLst/>
          </a:prstGeom>
        </p:spPr>
        <p:txBody>
          <a:bodyPr anchor="t" rtlCol="false" tIns="0" lIns="0" bIns="0" rIns="0">
            <a:spAutoFit/>
          </a:bodyPr>
          <a:lstStyle/>
          <a:p>
            <a:pPr algn="l">
              <a:lnSpc>
                <a:spcPts val="3562"/>
              </a:lnSpc>
            </a:pPr>
            <a:r>
              <a:rPr lang="en-US" sz="2187">
                <a:solidFill>
                  <a:srgbClr val="746558"/>
                </a:solidFill>
                <a:latin typeface="Arimo"/>
                <a:ea typeface="Arimo"/>
                <a:cs typeface="Arimo"/>
                <a:sym typeface="Arimo"/>
              </a:rPr>
              <a:t>AI/ML Fellowship 2026</a:t>
            </a:r>
          </a:p>
        </p:txBody>
      </p:sp>
      <p:sp>
        <p:nvSpPr>
          <p:cNvPr name="Freeform 24" id="24"/>
          <p:cNvSpPr/>
          <p:nvPr/>
        </p:nvSpPr>
        <p:spPr>
          <a:xfrm flipH="false" flipV="false" rot="0">
            <a:off x="1896314" y="2325922"/>
            <a:ext cx="742086" cy="702958"/>
          </a:xfrm>
          <a:custGeom>
            <a:avLst/>
            <a:gdLst/>
            <a:ahLst/>
            <a:cxnLst/>
            <a:rect r="r" b="b" t="t" l="l"/>
            <a:pathLst>
              <a:path h="702958" w="742086">
                <a:moveTo>
                  <a:pt x="0" y="0"/>
                </a:moveTo>
                <a:lnTo>
                  <a:pt x="742087" y="0"/>
                </a:lnTo>
                <a:lnTo>
                  <a:pt x="742087" y="702958"/>
                </a:lnTo>
                <a:lnTo>
                  <a:pt x="0" y="70295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5" id="25"/>
          <p:cNvSpPr/>
          <p:nvPr/>
        </p:nvSpPr>
        <p:spPr>
          <a:xfrm flipH="false" flipV="false" rot="0">
            <a:off x="1028700" y="2569000"/>
            <a:ext cx="742086" cy="702958"/>
          </a:xfrm>
          <a:custGeom>
            <a:avLst/>
            <a:gdLst/>
            <a:ahLst/>
            <a:cxnLst/>
            <a:rect r="r" b="b" t="t" l="l"/>
            <a:pathLst>
              <a:path h="702958" w="742086">
                <a:moveTo>
                  <a:pt x="0" y="0"/>
                </a:moveTo>
                <a:lnTo>
                  <a:pt x="742086" y="0"/>
                </a:lnTo>
                <a:lnTo>
                  <a:pt x="742086" y="702958"/>
                </a:lnTo>
                <a:lnTo>
                  <a:pt x="0" y="70295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26" id="26"/>
          <p:cNvGrpSpPr/>
          <p:nvPr/>
        </p:nvGrpSpPr>
        <p:grpSpPr>
          <a:xfrm rot="0">
            <a:off x="9144000" y="2778676"/>
            <a:ext cx="8346165" cy="2254563"/>
            <a:chOff x="0" y="0"/>
            <a:chExt cx="11128220" cy="3006084"/>
          </a:xfrm>
        </p:grpSpPr>
        <p:sp>
          <p:nvSpPr>
            <p:cNvPr name="TextBox 27" id="27"/>
            <p:cNvSpPr txBox="true"/>
            <p:nvPr/>
          </p:nvSpPr>
          <p:spPr>
            <a:xfrm rot="0">
              <a:off x="0" y="200025"/>
              <a:ext cx="11128220" cy="2057724"/>
            </a:xfrm>
            <a:prstGeom prst="rect">
              <a:avLst/>
            </a:prstGeom>
          </p:spPr>
          <p:txBody>
            <a:bodyPr anchor="t" rtlCol="false" tIns="0" lIns="0" bIns="0" rIns="0">
              <a:spAutoFit/>
            </a:bodyPr>
            <a:lstStyle/>
            <a:p>
              <a:pPr algn="l">
                <a:lnSpc>
                  <a:spcPts val="11110"/>
                </a:lnSpc>
              </a:pPr>
              <a:r>
                <a:rPr lang="en-US" sz="11110">
                  <a:solidFill>
                    <a:srgbClr val="484237"/>
                  </a:solidFill>
                  <a:latin typeface="Forum"/>
                  <a:ea typeface="Forum"/>
                  <a:cs typeface="Forum"/>
                  <a:sym typeface="Forum"/>
                </a:rPr>
                <a:t>Jawhar</a:t>
              </a:r>
            </a:p>
          </p:txBody>
        </p:sp>
        <p:sp>
          <p:nvSpPr>
            <p:cNvPr name="TextBox 28" id="28"/>
            <p:cNvSpPr txBox="true"/>
            <p:nvPr/>
          </p:nvSpPr>
          <p:spPr>
            <a:xfrm rot="0">
              <a:off x="0" y="2390830"/>
              <a:ext cx="11128220" cy="615254"/>
            </a:xfrm>
            <a:prstGeom prst="rect">
              <a:avLst/>
            </a:prstGeom>
          </p:spPr>
          <p:txBody>
            <a:bodyPr anchor="t" rtlCol="false" tIns="0" lIns="0" bIns="0" rIns="0">
              <a:spAutoFit/>
            </a:bodyPr>
            <a:lstStyle/>
            <a:p>
              <a:pPr algn="l">
                <a:lnSpc>
                  <a:spcPts val="3878"/>
                </a:lnSpc>
              </a:pPr>
              <a:r>
                <a:rPr lang="en-US" b="true" sz="2810">
                  <a:solidFill>
                    <a:srgbClr val="484237"/>
                  </a:solidFill>
                  <a:latin typeface="Glacial Indifference Bold"/>
                  <a:ea typeface="Glacial Indifference Bold"/>
                  <a:cs typeface="Glacial Indifference Bold"/>
                  <a:sym typeface="Glacial Indifference Bold"/>
                </a:rPr>
                <a:t>Arabic at its Core</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sp>
        <p:nvSpPr>
          <p:cNvPr name="Freeform 12" id="12"/>
          <p:cNvSpPr/>
          <p:nvPr/>
        </p:nvSpPr>
        <p:spPr>
          <a:xfrm flipH="false" flipV="false" rot="-1943012">
            <a:off x="12883539" y="5982002"/>
            <a:ext cx="5744010" cy="4114800"/>
          </a:xfrm>
          <a:custGeom>
            <a:avLst/>
            <a:gdLst/>
            <a:ahLst/>
            <a:cxnLst/>
            <a:rect r="r" b="b" t="t" l="l"/>
            <a:pathLst>
              <a:path h="4114800" w="5744010">
                <a:moveTo>
                  <a:pt x="0" y="0"/>
                </a:moveTo>
                <a:lnTo>
                  <a:pt x="5744010" y="0"/>
                </a:lnTo>
                <a:lnTo>
                  <a:pt x="574401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3" id="13"/>
          <p:cNvGrpSpPr/>
          <p:nvPr/>
        </p:nvGrpSpPr>
        <p:grpSpPr>
          <a:xfrm rot="0">
            <a:off x="2498275" y="2383682"/>
            <a:ext cx="12936013" cy="7198925"/>
            <a:chOff x="0" y="0"/>
            <a:chExt cx="17248017" cy="9598567"/>
          </a:xfrm>
        </p:grpSpPr>
        <p:sp>
          <p:nvSpPr>
            <p:cNvPr name="Freeform 14" id="14"/>
            <p:cNvSpPr/>
            <p:nvPr/>
          </p:nvSpPr>
          <p:spPr>
            <a:xfrm flipH="false" flipV="false" rot="0">
              <a:off x="40756" y="73513"/>
              <a:ext cx="17166586" cy="9451505"/>
            </a:xfrm>
            <a:custGeom>
              <a:avLst/>
              <a:gdLst/>
              <a:ahLst/>
              <a:cxnLst/>
              <a:rect r="r" b="b" t="t" l="l"/>
              <a:pathLst>
                <a:path h="9451505" w="17166586">
                  <a:moveTo>
                    <a:pt x="0" y="705720"/>
                  </a:moveTo>
                  <a:cubicBezTo>
                    <a:pt x="0" y="316103"/>
                    <a:pt x="177084" y="0"/>
                    <a:pt x="395536" y="0"/>
                  </a:cubicBezTo>
                  <a:lnTo>
                    <a:pt x="16771050" y="0"/>
                  </a:lnTo>
                  <a:cubicBezTo>
                    <a:pt x="16989502" y="0"/>
                    <a:pt x="17166586" y="316103"/>
                    <a:pt x="17166586" y="705720"/>
                  </a:cubicBezTo>
                  <a:lnTo>
                    <a:pt x="17166586" y="8745784"/>
                  </a:lnTo>
                  <a:cubicBezTo>
                    <a:pt x="17166586" y="9135401"/>
                    <a:pt x="16989502" y="9451505"/>
                    <a:pt x="16771050" y="9451505"/>
                  </a:cubicBezTo>
                  <a:lnTo>
                    <a:pt x="395536" y="9451505"/>
                  </a:lnTo>
                  <a:cubicBezTo>
                    <a:pt x="177084" y="9451505"/>
                    <a:pt x="0" y="9135401"/>
                    <a:pt x="0" y="8745784"/>
                  </a:cubicBezTo>
                  <a:close/>
                </a:path>
              </a:pathLst>
            </a:custGeom>
            <a:solidFill>
              <a:srgbClr val="F9F6F0"/>
            </a:solidFill>
          </p:spPr>
        </p:sp>
        <p:sp>
          <p:nvSpPr>
            <p:cNvPr name="Freeform 15" id="15"/>
            <p:cNvSpPr/>
            <p:nvPr/>
          </p:nvSpPr>
          <p:spPr>
            <a:xfrm flipH="false" flipV="false" rot="0">
              <a:off x="0" y="0"/>
              <a:ext cx="17248068" cy="9598530"/>
            </a:xfrm>
            <a:custGeom>
              <a:avLst/>
              <a:gdLst/>
              <a:ahLst/>
              <a:cxnLst/>
              <a:rect r="r" b="b" t="t" l="l"/>
              <a:pathLst>
                <a:path h="9598530" w="17248068">
                  <a:moveTo>
                    <a:pt x="0" y="779233"/>
                  </a:moveTo>
                  <a:cubicBezTo>
                    <a:pt x="0" y="348082"/>
                    <a:pt x="195628" y="0"/>
                    <a:pt x="436292" y="0"/>
                  </a:cubicBezTo>
                  <a:lnTo>
                    <a:pt x="16811806" y="0"/>
                  </a:lnTo>
                  <a:lnTo>
                    <a:pt x="16811806" y="73513"/>
                  </a:lnTo>
                  <a:lnTo>
                    <a:pt x="16811806" y="0"/>
                  </a:lnTo>
                  <a:cubicBezTo>
                    <a:pt x="17052266" y="0"/>
                    <a:pt x="17248068" y="348082"/>
                    <a:pt x="17248068" y="779233"/>
                  </a:cubicBezTo>
                  <a:lnTo>
                    <a:pt x="17207342" y="779233"/>
                  </a:lnTo>
                  <a:lnTo>
                    <a:pt x="17248068" y="779233"/>
                  </a:lnTo>
                  <a:lnTo>
                    <a:pt x="17248068" y="8819297"/>
                  </a:lnTo>
                  <a:lnTo>
                    <a:pt x="17207342" y="8819297"/>
                  </a:lnTo>
                  <a:lnTo>
                    <a:pt x="17248068" y="8819297"/>
                  </a:lnTo>
                  <a:cubicBezTo>
                    <a:pt x="17248068" y="9250449"/>
                    <a:pt x="17052471" y="9598530"/>
                    <a:pt x="16811806" y="9598530"/>
                  </a:cubicBezTo>
                  <a:lnTo>
                    <a:pt x="16811806" y="9525018"/>
                  </a:lnTo>
                  <a:lnTo>
                    <a:pt x="16811806" y="9598530"/>
                  </a:lnTo>
                  <a:lnTo>
                    <a:pt x="436292" y="9598530"/>
                  </a:lnTo>
                  <a:lnTo>
                    <a:pt x="436292" y="9525018"/>
                  </a:lnTo>
                  <a:lnTo>
                    <a:pt x="436292" y="9598530"/>
                  </a:lnTo>
                  <a:cubicBezTo>
                    <a:pt x="195628" y="9598530"/>
                    <a:pt x="0" y="9250449"/>
                    <a:pt x="0" y="8819297"/>
                  </a:cubicBezTo>
                  <a:lnTo>
                    <a:pt x="0" y="779233"/>
                  </a:lnTo>
                  <a:lnTo>
                    <a:pt x="40756" y="779233"/>
                  </a:lnTo>
                  <a:lnTo>
                    <a:pt x="0" y="779233"/>
                  </a:lnTo>
                  <a:moveTo>
                    <a:pt x="81512" y="779233"/>
                  </a:moveTo>
                  <a:lnTo>
                    <a:pt x="81512" y="8819297"/>
                  </a:lnTo>
                  <a:lnTo>
                    <a:pt x="40756" y="8819297"/>
                  </a:lnTo>
                  <a:lnTo>
                    <a:pt x="81512" y="8819297"/>
                  </a:lnTo>
                  <a:cubicBezTo>
                    <a:pt x="81512" y="9167747"/>
                    <a:pt x="239848" y="9451505"/>
                    <a:pt x="436292" y="9451505"/>
                  </a:cubicBezTo>
                  <a:lnTo>
                    <a:pt x="16811806" y="9451505"/>
                  </a:lnTo>
                  <a:cubicBezTo>
                    <a:pt x="17008047" y="9451505"/>
                    <a:pt x="17166586" y="9167747"/>
                    <a:pt x="17166586" y="8819297"/>
                  </a:cubicBezTo>
                  <a:lnTo>
                    <a:pt x="17166586" y="779233"/>
                  </a:lnTo>
                  <a:cubicBezTo>
                    <a:pt x="17166586" y="430783"/>
                    <a:pt x="17008047" y="147025"/>
                    <a:pt x="16811806" y="147025"/>
                  </a:cubicBezTo>
                  <a:lnTo>
                    <a:pt x="436292" y="147025"/>
                  </a:lnTo>
                  <a:lnTo>
                    <a:pt x="436292" y="73513"/>
                  </a:lnTo>
                  <a:lnTo>
                    <a:pt x="436292" y="147025"/>
                  </a:lnTo>
                  <a:cubicBezTo>
                    <a:pt x="239848" y="147025"/>
                    <a:pt x="81512" y="430783"/>
                    <a:pt x="81512" y="779233"/>
                  </a:cubicBezTo>
                  <a:close/>
                </a:path>
              </a:pathLst>
            </a:custGeom>
            <a:solidFill>
              <a:srgbClr val="D4CEC3"/>
            </a:solidFill>
          </p:spPr>
        </p:sp>
      </p:grpSp>
      <p:sp>
        <p:nvSpPr>
          <p:cNvPr name="Freeform 16" id="16"/>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7" id="17"/>
          <p:cNvGrpSpPr/>
          <p:nvPr/>
        </p:nvGrpSpPr>
        <p:grpSpPr>
          <a:xfrm rot="0">
            <a:off x="2302562" y="2482865"/>
            <a:ext cx="391427" cy="7000559"/>
            <a:chOff x="0" y="0"/>
            <a:chExt cx="177565" cy="3175705"/>
          </a:xfrm>
        </p:grpSpPr>
        <p:sp>
          <p:nvSpPr>
            <p:cNvPr name="Freeform 18" id="18"/>
            <p:cNvSpPr/>
            <p:nvPr/>
          </p:nvSpPr>
          <p:spPr>
            <a:xfrm flipH="false" flipV="false" rot="0">
              <a:off x="0" y="0"/>
              <a:ext cx="177565" cy="3175692"/>
            </a:xfrm>
            <a:custGeom>
              <a:avLst/>
              <a:gdLst/>
              <a:ahLst/>
              <a:cxnLst/>
              <a:rect r="r" b="b" t="t" l="l"/>
              <a:pathLst>
                <a:path h="3175692" w="177565">
                  <a:moveTo>
                    <a:pt x="0" y="52364"/>
                  </a:moveTo>
                  <a:cubicBezTo>
                    <a:pt x="0" y="23465"/>
                    <a:pt x="21086" y="0"/>
                    <a:pt x="47055" y="0"/>
                  </a:cubicBezTo>
                  <a:lnTo>
                    <a:pt x="130511" y="0"/>
                  </a:lnTo>
                  <a:cubicBezTo>
                    <a:pt x="156479" y="0"/>
                    <a:pt x="177565" y="23465"/>
                    <a:pt x="177565" y="52364"/>
                  </a:cubicBezTo>
                  <a:lnTo>
                    <a:pt x="177565" y="3123328"/>
                  </a:lnTo>
                  <a:cubicBezTo>
                    <a:pt x="177565" y="3152227"/>
                    <a:pt x="156479" y="3175692"/>
                    <a:pt x="130511" y="3175692"/>
                  </a:cubicBezTo>
                  <a:lnTo>
                    <a:pt x="47055" y="3175692"/>
                  </a:lnTo>
                  <a:cubicBezTo>
                    <a:pt x="21086" y="3175692"/>
                    <a:pt x="0" y="3152227"/>
                    <a:pt x="0" y="3123328"/>
                  </a:cubicBezTo>
                  <a:close/>
                </a:path>
              </a:pathLst>
            </a:custGeom>
            <a:solidFill>
              <a:srgbClr val="BFA486"/>
            </a:solidFill>
          </p:spPr>
        </p:sp>
      </p:grpSp>
      <p:sp>
        <p:nvSpPr>
          <p:cNvPr name="TextBox 19" id="19"/>
          <p:cNvSpPr txBox="true"/>
          <p:nvPr/>
        </p:nvSpPr>
        <p:spPr>
          <a:xfrm rot="0">
            <a:off x="3077408" y="3451484"/>
            <a:ext cx="11813199" cy="5721548"/>
          </a:xfrm>
          <a:prstGeom prst="rect">
            <a:avLst/>
          </a:prstGeom>
        </p:spPr>
        <p:txBody>
          <a:bodyPr anchor="t" rtlCol="false" tIns="0" lIns="0" bIns="0" rIns="0">
            <a:spAutoFit/>
          </a:bodyPr>
          <a:lstStyle/>
          <a:p>
            <a:pPr algn="just">
              <a:lnSpc>
                <a:spcPts val="3248"/>
              </a:lnSpc>
            </a:pPr>
            <a:r>
              <a:rPr lang="en-US" sz="2062">
                <a:solidFill>
                  <a:srgbClr val="746558"/>
                </a:solidFill>
                <a:latin typeface="Arimo"/>
                <a:ea typeface="Arimo"/>
                <a:cs typeface="Arimo"/>
                <a:sym typeface="Arimo"/>
              </a:rPr>
              <a:t>For 14+ c</a:t>
            </a:r>
            <a:r>
              <a:rPr lang="en-US" sz="2062">
                <a:solidFill>
                  <a:srgbClr val="746558"/>
                </a:solidFill>
                <a:latin typeface="Arimo"/>
                <a:ea typeface="Arimo"/>
                <a:cs typeface="Arimo"/>
                <a:sym typeface="Arimo"/>
              </a:rPr>
              <a:t>enturies, Classical Arabic grammar was taught through the ijazah system, scholar to student, in mosques and madrassas. Access required physical proximity to a qualified teacher, years of commitment, and financial means. For Muslims across South Asia, Africa, and Southeast Asia, structured Sarf and Nahw education was effectively unreachable.</a:t>
            </a:r>
          </a:p>
          <a:p>
            <a:pPr algn="just">
              <a:lnSpc>
                <a:spcPts val="3248"/>
              </a:lnSpc>
            </a:pPr>
            <a:r>
              <a:rPr lang="en-US" sz="2062">
                <a:solidFill>
                  <a:srgbClr val="746558"/>
                </a:solidFill>
                <a:latin typeface="Arimo"/>
                <a:ea typeface="Arimo"/>
                <a:cs typeface="Arimo"/>
                <a:sym typeface="Arimo"/>
              </a:rPr>
              <a:t>Technology began closing this gap gradually, cassette tapes in the 1970s, digital Quran databases in the 1990s, web platforms in the 2000s, and smartphone apps that now reach hundreds of millions. Yet through every wave of innovation, Arabic grammar was left behind. Apps teach vocabulary, not structure. Research tools like corpus.quran.com provide world-class annotation but are built for graduate linguists, not everyday learners. Teacher-led platforms exist but are paid, synchronous, and unscalable.</a:t>
            </a:r>
          </a:p>
          <a:p>
            <a:pPr algn="just">
              <a:lnSpc>
                <a:spcPts val="3249"/>
              </a:lnSpc>
            </a:pPr>
            <a:r>
              <a:rPr lang="en-US" sz="2062">
                <a:solidFill>
                  <a:srgbClr val="746558"/>
                </a:solidFill>
                <a:latin typeface="Arimo"/>
                <a:ea typeface="Arimo"/>
                <a:cs typeface="Arimo"/>
                <a:sym typeface="Arimo"/>
              </a:rPr>
              <a:t>The result: millions of motivated learners can recognise Quranic words but cannot parse a single sentence, because no accessible, self-paced, grammar-complete digital tool has ever existed for them.</a:t>
            </a:r>
          </a:p>
          <a:p>
            <a:pPr algn="l">
              <a:lnSpc>
                <a:spcPts val="3248"/>
              </a:lnSpc>
            </a:pPr>
          </a:p>
        </p:txBody>
      </p:sp>
      <p:sp>
        <p:nvSpPr>
          <p:cNvPr name="TextBox 20" id="20"/>
          <p:cNvSpPr txBox="true"/>
          <p:nvPr/>
        </p:nvSpPr>
        <p:spPr>
          <a:xfrm rot="0">
            <a:off x="1028700" y="1824348"/>
            <a:ext cx="4914900" cy="446088"/>
          </a:xfrm>
          <a:prstGeom prst="rect">
            <a:avLst/>
          </a:prstGeom>
        </p:spPr>
        <p:txBody>
          <a:bodyPr anchor="t" rtlCol="false" tIns="0" lIns="0" bIns="0" rIns="0">
            <a:spAutoFit/>
          </a:bodyPr>
          <a:lstStyle/>
          <a:p>
            <a:pPr algn="l">
              <a:lnSpc>
                <a:spcPts val="3312"/>
              </a:lnSpc>
            </a:pPr>
            <a:r>
              <a:rPr lang="en-US" sz="2625" b="true">
                <a:solidFill>
                  <a:srgbClr val="484237"/>
                </a:solidFill>
                <a:latin typeface="Arimo Bold"/>
                <a:ea typeface="Arimo Bold"/>
                <a:cs typeface="Arimo Bold"/>
                <a:sym typeface="Arimo Bold"/>
              </a:rPr>
              <a:t>The Problem no app has solved</a:t>
            </a:r>
          </a:p>
        </p:txBody>
      </p:sp>
      <p:sp>
        <p:nvSpPr>
          <p:cNvPr name="TextBox 21" id="21"/>
          <p:cNvSpPr txBox="true"/>
          <p:nvPr/>
        </p:nvSpPr>
        <p:spPr>
          <a:xfrm rot="0">
            <a:off x="3077408" y="2685012"/>
            <a:ext cx="12356880" cy="590626"/>
          </a:xfrm>
          <a:prstGeom prst="rect">
            <a:avLst/>
          </a:prstGeom>
        </p:spPr>
        <p:txBody>
          <a:bodyPr anchor="t" rtlCol="false" tIns="0" lIns="0" bIns="0" rIns="0">
            <a:spAutoFit/>
          </a:bodyPr>
          <a:lstStyle/>
          <a:p>
            <a:pPr algn="l">
              <a:lnSpc>
                <a:spcPts val="4574"/>
              </a:lnSpc>
            </a:pPr>
            <a:r>
              <a:rPr lang="en-US" sz="3624" b="true">
                <a:solidFill>
                  <a:srgbClr val="746558"/>
                </a:solidFill>
                <a:latin typeface="Arimo Bold"/>
                <a:ea typeface="Arimo Bold"/>
                <a:cs typeface="Arimo Bold"/>
                <a:sym typeface="Arimo Bold"/>
              </a:rPr>
              <a:t>1.8 Billion Muslims. One Language. No Grammer App</a:t>
            </a:r>
          </a:p>
        </p:txBody>
      </p:sp>
      <p:sp>
        <p:nvSpPr>
          <p:cNvPr name="TextBox 22" id="22"/>
          <p:cNvSpPr txBox="true"/>
          <p:nvPr/>
        </p:nvSpPr>
        <p:spPr>
          <a:xfrm rot="0">
            <a:off x="695712" y="580539"/>
            <a:ext cx="5979772" cy="1167609"/>
          </a:xfrm>
          <a:prstGeom prst="rect">
            <a:avLst/>
          </a:prstGeom>
        </p:spPr>
        <p:txBody>
          <a:bodyPr anchor="t" rtlCol="false" tIns="0" lIns="0" bIns="0" rIns="0">
            <a:spAutoFit/>
          </a:bodyPr>
          <a:lstStyle/>
          <a:p>
            <a:pPr algn="ctr">
              <a:lnSpc>
                <a:spcPts val="8938"/>
              </a:lnSpc>
            </a:pPr>
            <a:r>
              <a:rPr lang="en-US" sz="8125" spc="203">
                <a:solidFill>
                  <a:srgbClr val="484237"/>
                </a:solidFill>
                <a:latin typeface="Forum"/>
                <a:ea typeface="Forum"/>
                <a:cs typeface="Forum"/>
                <a:sym typeface="Forum"/>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791204" y="3178912"/>
            <a:ext cx="541734" cy="541734"/>
            <a:chOff x="0" y="0"/>
            <a:chExt cx="722312" cy="722312"/>
          </a:xfrm>
        </p:grpSpPr>
        <p:sp>
          <p:nvSpPr>
            <p:cNvPr name="Freeform 3" id="3"/>
            <p:cNvSpPr/>
            <p:nvPr/>
          </p:nvSpPr>
          <p:spPr>
            <a:xfrm flipH="false" flipV="false" rot="0">
              <a:off x="0" y="0"/>
              <a:ext cx="722249" cy="722250"/>
            </a:xfrm>
            <a:custGeom>
              <a:avLst/>
              <a:gdLst/>
              <a:ahLst/>
              <a:cxnLst/>
              <a:rect r="r" b="b" t="t" l="l"/>
              <a:pathLst>
                <a:path h="722250" w="722249">
                  <a:moveTo>
                    <a:pt x="0" y="48133"/>
                  </a:moveTo>
                  <a:cubicBezTo>
                    <a:pt x="0" y="21590"/>
                    <a:pt x="21590" y="0"/>
                    <a:pt x="48133" y="0"/>
                  </a:cubicBezTo>
                  <a:lnTo>
                    <a:pt x="674116" y="0"/>
                  </a:lnTo>
                  <a:cubicBezTo>
                    <a:pt x="700659" y="0"/>
                    <a:pt x="722249" y="21590"/>
                    <a:pt x="722249" y="48133"/>
                  </a:cubicBezTo>
                  <a:lnTo>
                    <a:pt x="722249" y="674116"/>
                  </a:lnTo>
                  <a:cubicBezTo>
                    <a:pt x="722249" y="700659"/>
                    <a:pt x="700659" y="722249"/>
                    <a:pt x="674116" y="722249"/>
                  </a:cubicBezTo>
                  <a:lnTo>
                    <a:pt x="48133" y="722249"/>
                  </a:lnTo>
                  <a:cubicBezTo>
                    <a:pt x="21590" y="722376"/>
                    <a:pt x="0" y="700786"/>
                    <a:pt x="0" y="674116"/>
                  </a:cubicBezTo>
                  <a:close/>
                </a:path>
              </a:pathLst>
            </a:custGeom>
            <a:solidFill>
              <a:srgbClr val="D3C5B6"/>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8" id="8"/>
          <p:cNvGrpSpPr/>
          <p:nvPr/>
        </p:nvGrpSpPr>
        <p:grpSpPr>
          <a:xfrm rot="0">
            <a:off x="16049015" y="9686925"/>
            <a:ext cx="2153260" cy="514350"/>
            <a:chOff x="0" y="0"/>
            <a:chExt cx="2871013" cy="685800"/>
          </a:xfrm>
        </p:grpSpPr>
        <p:sp>
          <p:nvSpPr>
            <p:cNvPr name="Freeform 9" id="9"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10" id="10"/>
          <p:cNvGrpSpPr/>
          <p:nvPr/>
        </p:nvGrpSpPr>
        <p:grpSpPr>
          <a:xfrm rot="0">
            <a:off x="0" y="0"/>
            <a:ext cx="18288000" cy="10287000"/>
            <a:chOff x="0" y="0"/>
            <a:chExt cx="24384000" cy="13716000"/>
          </a:xfrm>
        </p:grpSpPr>
        <p:sp>
          <p:nvSpPr>
            <p:cNvPr name="Freeform 11" id="11"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2" id="12"/>
          <p:cNvGrpSpPr/>
          <p:nvPr/>
        </p:nvGrpSpPr>
        <p:grpSpPr>
          <a:xfrm rot="0">
            <a:off x="0" y="-11343"/>
            <a:ext cx="18288000" cy="10287000"/>
            <a:chOff x="0" y="0"/>
            <a:chExt cx="24384000" cy="13716000"/>
          </a:xfrm>
        </p:grpSpPr>
        <p:sp>
          <p:nvSpPr>
            <p:cNvPr name="Freeform 13" id="1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grpSp>
        <p:nvGrpSpPr>
          <p:cNvPr name="Group 14" id="14"/>
          <p:cNvGrpSpPr/>
          <p:nvPr/>
        </p:nvGrpSpPr>
        <p:grpSpPr>
          <a:xfrm rot="0">
            <a:off x="2075407" y="3005821"/>
            <a:ext cx="11841464" cy="906382"/>
            <a:chOff x="0" y="0"/>
            <a:chExt cx="15788619" cy="1208509"/>
          </a:xfrm>
        </p:grpSpPr>
        <p:sp>
          <p:nvSpPr>
            <p:cNvPr name="Freeform 15" id="15"/>
            <p:cNvSpPr/>
            <p:nvPr/>
          </p:nvSpPr>
          <p:spPr>
            <a:xfrm flipH="false" flipV="false" rot="0">
              <a:off x="18397" y="20759"/>
              <a:ext cx="15751815" cy="1167044"/>
            </a:xfrm>
            <a:custGeom>
              <a:avLst/>
              <a:gdLst/>
              <a:ahLst/>
              <a:cxnLst/>
              <a:rect r="r" b="b" t="t" l="l"/>
              <a:pathLst>
                <a:path h="1167044" w="15751815">
                  <a:moveTo>
                    <a:pt x="0" y="87185"/>
                  </a:moveTo>
                  <a:cubicBezTo>
                    <a:pt x="0" y="39026"/>
                    <a:pt x="35692" y="0"/>
                    <a:pt x="79753" y="0"/>
                  </a:cubicBezTo>
                  <a:lnTo>
                    <a:pt x="15672062" y="0"/>
                  </a:lnTo>
                  <a:cubicBezTo>
                    <a:pt x="15716125" y="0"/>
                    <a:pt x="15751816" y="39026"/>
                    <a:pt x="15751816" y="87185"/>
                  </a:cubicBezTo>
                  <a:lnTo>
                    <a:pt x="15751816" y="1079858"/>
                  </a:lnTo>
                  <a:cubicBezTo>
                    <a:pt x="15751816" y="1128017"/>
                    <a:pt x="15716125" y="1167043"/>
                    <a:pt x="15672062" y="1167043"/>
                  </a:cubicBezTo>
                  <a:lnTo>
                    <a:pt x="79753" y="1167043"/>
                  </a:lnTo>
                  <a:cubicBezTo>
                    <a:pt x="35692" y="1167043"/>
                    <a:pt x="0" y="1128017"/>
                    <a:pt x="0" y="1079858"/>
                  </a:cubicBezTo>
                  <a:close/>
                </a:path>
              </a:pathLst>
            </a:custGeom>
            <a:solidFill>
              <a:srgbClr val="F9F6F0"/>
            </a:solidFill>
          </p:spPr>
        </p:sp>
        <p:sp>
          <p:nvSpPr>
            <p:cNvPr name="Freeform 16" id="16"/>
            <p:cNvSpPr/>
            <p:nvPr/>
          </p:nvSpPr>
          <p:spPr>
            <a:xfrm flipH="false" flipV="false" rot="0">
              <a:off x="0" y="0"/>
              <a:ext cx="15788610" cy="1208573"/>
            </a:xfrm>
            <a:custGeom>
              <a:avLst/>
              <a:gdLst/>
              <a:ahLst/>
              <a:cxnLst/>
              <a:rect r="r" b="b" t="t" l="l"/>
              <a:pathLst>
                <a:path h="1208573" w="15788610">
                  <a:moveTo>
                    <a:pt x="0" y="107944"/>
                  </a:moveTo>
                  <a:cubicBezTo>
                    <a:pt x="0" y="47641"/>
                    <a:pt x="44522" y="0"/>
                    <a:pt x="98150" y="0"/>
                  </a:cubicBezTo>
                  <a:lnTo>
                    <a:pt x="15690459" y="0"/>
                  </a:lnTo>
                  <a:lnTo>
                    <a:pt x="15690459" y="20759"/>
                  </a:lnTo>
                  <a:lnTo>
                    <a:pt x="15690459" y="0"/>
                  </a:lnTo>
                  <a:cubicBezTo>
                    <a:pt x="15744087" y="0"/>
                    <a:pt x="15788610" y="47641"/>
                    <a:pt x="15788610" y="107944"/>
                  </a:cubicBezTo>
                  <a:lnTo>
                    <a:pt x="15770213" y="107944"/>
                  </a:lnTo>
                  <a:lnTo>
                    <a:pt x="15788610" y="107944"/>
                  </a:lnTo>
                  <a:lnTo>
                    <a:pt x="15788610" y="1100617"/>
                  </a:lnTo>
                  <a:lnTo>
                    <a:pt x="15770213" y="1100617"/>
                  </a:lnTo>
                  <a:lnTo>
                    <a:pt x="15788610" y="1100617"/>
                  </a:lnTo>
                  <a:cubicBezTo>
                    <a:pt x="15788610" y="1160816"/>
                    <a:pt x="15744087" y="1208573"/>
                    <a:pt x="15690459" y="1208573"/>
                  </a:cubicBezTo>
                  <a:lnTo>
                    <a:pt x="15690459" y="1187802"/>
                  </a:lnTo>
                  <a:lnTo>
                    <a:pt x="15690459" y="1208573"/>
                  </a:lnTo>
                  <a:lnTo>
                    <a:pt x="98150" y="1208573"/>
                  </a:lnTo>
                  <a:lnTo>
                    <a:pt x="98150" y="1187802"/>
                  </a:lnTo>
                  <a:lnTo>
                    <a:pt x="98150" y="1208573"/>
                  </a:lnTo>
                  <a:cubicBezTo>
                    <a:pt x="44522" y="1208457"/>
                    <a:pt x="0" y="1160816"/>
                    <a:pt x="0" y="1100617"/>
                  </a:cubicBezTo>
                  <a:lnTo>
                    <a:pt x="0" y="107944"/>
                  </a:lnTo>
                  <a:lnTo>
                    <a:pt x="18397" y="107944"/>
                  </a:lnTo>
                  <a:lnTo>
                    <a:pt x="0" y="107944"/>
                  </a:lnTo>
                  <a:moveTo>
                    <a:pt x="36795" y="107944"/>
                  </a:moveTo>
                  <a:lnTo>
                    <a:pt x="36795" y="1100617"/>
                  </a:lnTo>
                  <a:lnTo>
                    <a:pt x="18397" y="1100617"/>
                  </a:lnTo>
                  <a:lnTo>
                    <a:pt x="36795" y="1100617"/>
                  </a:lnTo>
                  <a:cubicBezTo>
                    <a:pt x="36795" y="1136633"/>
                    <a:pt x="63747" y="1167044"/>
                    <a:pt x="98150" y="1167044"/>
                  </a:cubicBezTo>
                  <a:lnTo>
                    <a:pt x="15690459" y="1167044"/>
                  </a:lnTo>
                  <a:cubicBezTo>
                    <a:pt x="15724955" y="1167044"/>
                    <a:pt x="15751815" y="1136736"/>
                    <a:pt x="15751815" y="1100617"/>
                  </a:cubicBezTo>
                  <a:lnTo>
                    <a:pt x="15751815" y="107944"/>
                  </a:lnTo>
                  <a:cubicBezTo>
                    <a:pt x="15751815" y="71928"/>
                    <a:pt x="15724862" y="41517"/>
                    <a:pt x="15690459" y="41517"/>
                  </a:cubicBezTo>
                  <a:lnTo>
                    <a:pt x="98150" y="41517"/>
                  </a:lnTo>
                  <a:lnTo>
                    <a:pt x="98150" y="20759"/>
                  </a:lnTo>
                  <a:lnTo>
                    <a:pt x="98150" y="41517"/>
                  </a:lnTo>
                  <a:cubicBezTo>
                    <a:pt x="63747" y="41517"/>
                    <a:pt x="36795" y="71824"/>
                    <a:pt x="36795" y="107944"/>
                  </a:cubicBezTo>
                  <a:close/>
                </a:path>
              </a:pathLst>
            </a:custGeom>
            <a:solidFill>
              <a:srgbClr val="D4CEC3"/>
            </a:solidFill>
          </p:spPr>
        </p:sp>
      </p:grpSp>
      <p:sp>
        <p:nvSpPr>
          <p:cNvPr name="Freeform 17" id="17"/>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6049015" y="7713018"/>
            <a:ext cx="2845201" cy="2488257"/>
          </a:xfrm>
          <a:custGeom>
            <a:avLst/>
            <a:gdLst/>
            <a:ahLst/>
            <a:cxnLst/>
            <a:rect r="r" b="b" t="t" l="l"/>
            <a:pathLst>
              <a:path h="2488257" w="2845201">
                <a:moveTo>
                  <a:pt x="0" y="0"/>
                </a:moveTo>
                <a:lnTo>
                  <a:pt x="2845201" y="0"/>
                </a:lnTo>
                <a:lnTo>
                  <a:pt x="2845201" y="2488257"/>
                </a:lnTo>
                <a:lnTo>
                  <a:pt x="0" y="248825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9" id="19"/>
          <p:cNvGrpSpPr/>
          <p:nvPr/>
        </p:nvGrpSpPr>
        <p:grpSpPr>
          <a:xfrm rot="0">
            <a:off x="2062071" y="3005821"/>
            <a:ext cx="541734" cy="906382"/>
            <a:chOff x="0" y="0"/>
            <a:chExt cx="722312" cy="1208509"/>
          </a:xfrm>
        </p:grpSpPr>
        <p:sp>
          <p:nvSpPr>
            <p:cNvPr name="Freeform 20" id="20"/>
            <p:cNvSpPr/>
            <p:nvPr/>
          </p:nvSpPr>
          <p:spPr>
            <a:xfrm flipH="false" flipV="false" rot="0">
              <a:off x="0" y="0"/>
              <a:ext cx="722249" cy="1208403"/>
            </a:xfrm>
            <a:custGeom>
              <a:avLst/>
              <a:gdLst/>
              <a:ahLst/>
              <a:cxnLst/>
              <a:rect r="r" b="b" t="t" l="l"/>
              <a:pathLst>
                <a:path h="1208403" w="722249">
                  <a:moveTo>
                    <a:pt x="0" y="80532"/>
                  </a:moveTo>
                  <a:cubicBezTo>
                    <a:pt x="0" y="36122"/>
                    <a:pt x="21590" y="0"/>
                    <a:pt x="48133" y="0"/>
                  </a:cubicBezTo>
                  <a:lnTo>
                    <a:pt x="674116" y="0"/>
                  </a:lnTo>
                  <a:cubicBezTo>
                    <a:pt x="700659" y="0"/>
                    <a:pt x="722249" y="36122"/>
                    <a:pt x="722249" y="80532"/>
                  </a:cubicBezTo>
                  <a:lnTo>
                    <a:pt x="722249" y="1127871"/>
                  </a:lnTo>
                  <a:cubicBezTo>
                    <a:pt x="722249" y="1172280"/>
                    <a:pt x="700659" y="1208403"/>
                    <a:pt x="674116" y="1208403"/>
                  </a:cubicBezTo>
                  <a:lnTo>
                    <a:pt x="48133" y="1208403"/>
                  </a:lnTo>
                  <a:cubicBezTo>
                    <a:pt x="21590" y="1208573"/>
                    <a:pt x="0" y="1172493"/>
                    <a:pt x="0" y="1127871"/>
                  </a:cubicBezTo>
                  <a:close/>
                </a:path>
              </a:pathLst>
            </a:custGeom>
            <a:solidFill>
              <a:srgbClr val="D3C5B6"/>
            </a:solidFill>
          </p:spPr>
        </p:sp>
      </p:grpSp>
      <p:grpSp>
        <p:nvGrpSpPr>
          <p:cNvPr name="Group 21" id="21"/>
          <p:cNvGrpSpPr/>
          <p:nvPr/>
        </p:nvGrpSpPr>
        <p:grpSpPr>
          <a:xfrm rot="0">
            <a:off x="2062071" y="4104100"/>
            <a:ext cx="11854800" cy="798891"/>
            <a:chOff x="0" y="0"/>
            <a:chExt cx="15806400" cy="1065189"/>
          </a:xfrm>
        </p:grpSpPr>
        <p:sp>
          <p:nvSpPr>
            <p:cNvPr name="Freeform 22" id="22"/>
            <p:cNvSpPr/>
            <p:nvPr/>
          </p:nvSpPr>
          <p:spPr>
            <a:xfrm flipH="false" flipV="false" rot="0">
              <a:off x="18418" y="18297"/>
              <a:ext cx="15769555" cy="1028641"/>
            </a:xfrm>
            <a:custGeom>
              <a:avLst/>
              <a:gdLst/>
              <a:ahLst/>
              <a:cxnLst/>
              <a:rect r="r" b="b" t="t" l="l"/>
              <a:pathLst>
                <a:path h="1028641" w="15769555">
                  <a:moveTo>
                    <a:pt x="0" y="76846"/>
                  </a:moveTo>
                  <a:cubicBezTo>
                    <a:pt x="0" y="34398"/>
                    <a:pt x="35731" y="0"/>
                    <a:pt x="79843" y="0"/>
                  </a:cubicBezTo>
                  <a:lnTo>
                    <a:pt x="15689712" y="0"/>
                  </a:lnTo>
                  <a:cubicBezTo>
                    <a:pt x="15733824" y="0"/>
                    <a:pt x="15769555" y="34398"/>
                    <a:pt x="15769555" y="76846"/>
                  </a:cubicBezTo>
                  <a:lnTo>
                    <a:pt x="15769555" y="951794"/>
                  </a:lnTo>
                  <a:cubicBezTo>
                    <a:pt x="15769555" y="994243"/>
                    <a:pt x="15733824" y="1028641"/>
                    <a:pt x="15689712" y="1028641"/>
                  </a:cubicBezTo>
                  <a:lnTo>
                    <a:pt x="79843" y="1028641"/>
                  </a:lnTo>
                  <a:cubicBezTo>
                    <a:pt x="35731" y="1028641"/>
                    <a:pt x="0" y="994243"/>
                    <a:pt x="0" y="951794"/>
                  </a:cubicBezTo>
                  <a:close/>
                </a:path>
              </a:pathLst>
            </a:custGeom>
            <a:solidFill>
              <a:srgbClr val="F9F6F0"/>
            </a:solidFill>
          </p:spPr>
        </p:sp>
        <p:sp>
          <p:nvSpPr>
            <p:cNvPr name="Freeform 23" id="23"/>
            <p:cNvSpPr/>
            <p:nvPr/>
          </p:nvSpPr>
          <p:spPr>
            <a:xfrm flipH="false" flipV="false" rot="0">
              <a:off x="0" y="0"/>
              <a:ext cx="15806392" cy="1065252"/>
            </a:xfrm>
            <a:custGeom>
              <a:avLst/>
              <a:gdLst/>
              <a:ahLst/>
              <a:cxnLst/>
              <a:rect r="r" b="b" t="t" l="l"/>
              <a:pathLst>
                <a:path h="1065252" w="15806392">
                  <a:moveTo>
                    <a:pt x="0" y="95143"/>
                  </a:moveTo>
                  <a:cubicBezTo>
                    <a:pt x="0" y="41991"/>
                    <a:pt x="44572" y="0"/>
                    <a:pt x="98261" y="0"/>
                  </a:cubicBezTo>
                  <a:lnTo>
                    <a:pt x="15708130" y="0"/>
                  </a:lnTo>
                  <a:lnTo>
                    <a:pt x="15708130" y="18297"/>
                  </a:lnTo>
                  <a:lnTo>
                    <a:pt x="15708130" y="0"/>
                  </a:lnTo>
                  <a:cubicBezTo>
                    <a:pt x="15761818" y="0"/>
                    <a:pt x="15806392" y="41991"/>
                    <a:pt x="15806392" y="95143"/>
                  </a:cubicBezTo>
                  <a:lnTo>
                    <a:pt x="15787973" y="95143"/>
                  </a:lnTo>
                  <a:lnTo>
                    <a:pt x="15806392" y="95143"/>
                  </a:lnTo>
                  <a:lnTo>
                    <a:pt x="15806392" y="970091"/>
                  </a:lnTo>
                  <a:lnTo>
                    <a:pt x="15787973" y="970091"/>
                  </a:lnTo>
                  <a:lnTo>
                    <a:pt x="15806392" y="970091"/>
                  </a:lnTo>
                  <a:cubicBezTo>
                    <a:pt x="15806392" y="1023152"/>
                    <a:pt x="15761818" y="1065252"/>
                    <a:pt x="15708130" y="1065252"/>
                  </a:cubicBezTo>
                  <a:lnTo>
                    <a:pt x="15708130" y="1046938"/>
                  </a:lnTo>
                  <a:lnTo>
                    <a:pt x="15708130" y="1065252"/>
                  </a:lnTo>
                  <a:lnTo>
                    <a:pt x="98261" y="1065252"/>
                  </a:lnTo>
                  <a:lnTo>
                    <a:pt x="98261" y="1046938"/>
                  </a:lnTo>
                  <a:lnTo>
                    <a:pt x="98261" y="1065252"/>
                  </a:lnTo>
                  <a:cubicBezTo>
                    <a:pt x="44572" y="1065143"/>
                    <a:pt x="0" y="1023152"/>
                    <a:pt x="0" y="970091"/>
                  </a:cubicBezTo>
                  <a:lnTo>
                    <a:pt x="0" y="95143"/>
                  </a:lnTo>
                  <a:lnTo>
                    <a:pt x="18418" y="95143"/>
                  </a:lnTo>
                  <a:lnTo>
                    <a:pt x="0" y="95143"/>
                  </a:lnTo>
                  <a:moveTo>
                    <a:pt x="36836" y="95143"/>
                  </a:moveTo>
                  <a:lnTo>
                    <a:pt x="36836" y="970091"/>
                  </a:lnTo>
                  <a:lnTo>
                    <a:pt x="18418" y="970091"/>
                  </a:lnTo>
                  <a:lnTo>
                    <a:pt x="36836" y="970091"/>
                  </a:lnTo>
                  <a:cubicBezTo>
                    <a:pt x="36836" y="1001836"/>
                    <a:pt x="63819" y="1028641"/>
                    <a:pt x="98261" y="1028641"/>
                  </a:cubicBezTo>
                  <a:lnTo>
                    <a:pt x="15708130" y="1028641"/>
                  </a:lnTo>
                  <a:cubicBezTo>
                    <a:pt x="15742664" y="1028641"/>
                    <a:pt x="15769555" y="1001928"/>
                    <a:pt x="15769555" y="970091"/>
                  </a:cubicBezTo>
                  <a:lnTo>
                    <a:pt x="15769555" y="95143"/>
                  </a:lnTo>
                  <a:cubicBezTo>
                    <a:pt x="15769555" y="63398"/>
                    <a:pt x="15742572" y="36593"/>
                    <a:pt x="15708130" y="36593"/>
                  </a:cubicBezTo>
                  <a:lnTo>
                    <a:pt x="98261" y="36593"/>
                  </a:lnTo>
                  <a:lnTo>
                    <a:pt x="98261" y="18297"/>
                  </a:lnTo>
                  <a:lnTo>
                    <a:pt x="98261" y="36593"/>
                  </a:lnTo>
                  <a:cubicBezTo>
                    <a:pt x="63819" y="36593"/>
                    <a:pt x="36836" y="63307"/>
                    <a:pt x="36836" y="95143"/>
                  </a:cubicBezTo>
                  <a:close/>
                </a:path>
              </a:pathLst>
            </a:custGeom>
            <a:solidFill>
              <a:srgbClr val="D4CEC3"/>
            </a:solidFill>
          </p:spPr>
        </p:sp>
      </p:grpSp>
      <p:grpSp>
        <p:nvGrpSpPr>
          <p:cNvPr name="Group 24" id="24"/>
          <p:cNvGrpSpPr/>
          <p:nvPr/>
        </p:nvGrpSpPr>
        <p:grpSpPr>
          <a:xfrm rot="0">
            <a:off x="2062071" y="7713018"/>
            <a:ext cx="11854800" cy="798891"/>
            <a:chOff x="0" y="0"/>
            <a:chExt cx="15806400" cy="1065189"/>
          </a:xfrm>
        </p:grpSpPr>
        <p:sp>
          <p:nvSpPr>
            <p:cNvPr name="Freeform 25" id="25"/>
            <p:cNvSpPr/>
            <p:nvPr/>
          </p:nvSpPr>
          <p:spPr>
            <a:xfrm flipH="false" flipV="false" rot="0">
              <a:off x="18418" y="18297"/>
              <a:ext cx="15769555" cy="1028641"/>
            </a:xfrm>
            <a:custGeom>
              <a:avLst/>
              <a:gdLst/>
              <a:ahLst/>
              <a:cxnLst/>
              <a:rect r="r" b="b" t="t" l="l"/>
              <a:pathLst>
                <a:path h="1028641" w="15769555">
                  <a:moveTo>
                    <a:pt x="0" y="76846"/>
                  </a:moveTo>
                  <a:cubicBezTo>
                    <a:pt x="0" y="34398"/>
                    <a:pt x="35731" y="0"/>
                    <a:pt x="79843" y="0"/>
                  </a:cubicBezTo>
                  <a:lnTo>
                    <a:pt x="15689712" y="0"/>
                  </a:lnTo>
                  <a:cubicBezTo>
                    <a:pt x="15733824" y="0"/>
                    <a:pt x="15769555" y="34398"/>
                    <a:pt x="15769555" y="76846"/>
                  </a:cubicBezTo>
                  <a:lnTo>
                    <a:pt x="15769555" y="951794"/>
                  </a:lnTo>
                  <a:cubicBezTo>
                    <a:pt x="15769555" y="994243"/>
                    <a:pt x="15733824" y="1028641"/>
                    <a:pt x="15689712" y="1028641"/>
                  </a:cubicBezTo>
                  <a:lnTo>
                    <a:pt x="79843" y="1028641"/>
                  </a:lnTo>
                  <a:cubicBezTo>
                    <a:pt x="35731" y="1028641"/>
                    <a:pt x="0" y="994243"/>
                    <a:pt x="0" y="951794"/>
                  </a:cubicBezTo>
                  <a:close/>
                </a:path>
              </a:pathLst>
            </a:custGeom>
            <a:solidFill>
              <a:srgbClr val="F9F6F0"/>
            </a:solidFill>
          </p:spPr>
        </p:sp>
        <p:sp>
          <p:nvSpPr>
            <p:cNvPr name="Freeform 26" id="26"/>
            <p:cNvSpPr/>
            <p:nvPr/>
          </p:nvSpPr>
          <p:spPr>
            <a:xfrm flipH="false" flipV="false" rot="0">
              <a:off x="0" y="0"/>
              <a:ext cx="15806392" cy="1065252"/>
            </a:xfrm>
            <a:custGeom>
              <a:avLst/>
              <a:gdLst/>
              <a:ahLst/>
              <a:cxnLst/>
              <a:rect r="r" b="b" t="t" l="l"/>
              <a:pathLst>
                <a:path h="1065252" w="15806392">
                  <a:moveTo>
                    <a:pt x="0" y="95143"/>
                  </a:moveTo>
                  <a:cubicBezTo>
                    <a:pt x="0" y="41991"/>
                    <a:pt x="44572" y="0"/>
                    <a:pt x="98261" y="0"/>
                  </a:cubicBezTo>
                  <a:lnTo>
                    <a:pt x="15708130" y="0"/>
                  </a:lnTo>
                  <a:lnTo>
                    <a:pt x="15708130" y="18297"/>
                  </a:lnTo>
                  <a:lnTo>
                    <a:pt x="15708130" y="0"/>
                  </a:lnTo>
                  <a:cubicBezTo>
                    <a:pt x="15761818" y="0"/>
                    <a:pt x="15806392" y="41991"/>
                    <a:pt x="15806392" y="95143"/>
                  </a:cubicBezTo>
                  <a:lnTo>
                    <a:pt x="15787973" y="95143"/>
                  </a:lnTo>
                  <a:lnTo>
                    <a:pt x="15806392" y="95143"/>
                  </a:lnTo>
                  <a:lnTo>
                    <a:pt x="15806392" y="970091"/>
                  </a:lnTo>
                  <a:lnTo>
                    <a:pt x="15787973" y="970091"/>
                  </a:lnTo>
                  <a:lnTo>
                    <a:pt x="15806392" y="970091"/>
                  </a:lnTo>
                  <a:cubicBezTo>
                    <a:pt x="15806392" y="1023152"/>
                    <a:pt x="15761818" y="1065252"/>
                    <a:pt x="15708130" y="1065252"/>
                  </a:cubicBezTo>
                  <a:lnTo>
                    <a:pt x="15708130" y="1046938"/>
                  </a:lnTo>
                  <a:lnTo>
                    <a:pt x="15708130" y="1065252"/>
                  </a:lnTo>
                  <a:lnTo>
                    <a:pt x="98261" y="1065252"/>
                  </a:lnTo>
                  <a:lnTo>
                    <a:pt x="98261" y="1046938"/>
                  </a:lnTo>
                  <a:lnTo>
                    <a:pt x="98261" y="1065252"/>
                  </a:lnTo>
                  <a:cubicBezTo>
                    <a:pt x="44572" y="1065143"/>
                    <a:pt x="0" y="1023152"/>
                    <a:pt x="0" y="970091"/>
                  </a:cubicBezTo>
                  <a:lnTo>
                    <a:pt x="0" y="95143"/>
                  </a:lnTo>
                  <a:lnTo>
                    <a:pt x="18418" y="95143"/>
                  </a:lnTo>
                  <a:lnTo>
                    <a:pt x="0" y="95143"/>
                  </a:lnTo>
                  <a:moveTo>
                    <a:pt x="36836" y="95143"/>
                  </a:moveTo>
                  <a:lnTo>
                    <a:pt x="36836" y="970091"/>
                  </a:lnTo>
                  <a:lnTo>
                    <a:pt x="18418" y="970091"/>
                  </a:lnTo>
                  <a:lnTo>
                    <a:pt x="36836" y="970091"/>
                  </a:lnTo>
                  <a:cubicBezTo>
                    <a:pt x="36836" y="1001836"/>
                    <a:pt x="63819" y="1028641"/>
                    <a:pt x="98261" y="1028641"/>
                  </a:cubicBezTo>
                  <a:lnTo>
                    <a:pt x="15708130" y="1028641"/>
                  </a:lnTo>
                  <a:cubicBezTo>
                    <a:pt x="15742664" y="1028641"/>
                    <a:pt x="15769555" y="1001928"/>
                    <a:pt x="15769555" y="970091"/>
                  </a:cubicBezTo>
                  <a:lnTo>
                    <a:pt x="15769555" y="95143"/>
                  </a:lnTo>
                  <a:cubicBezTo>
                    <a:pt x="15769555" y="63398"/>
                    <a:pt x="15742572" y="36593"/>
                    <a:pt x="15708130" y="36593"/>
                  </a:cubicBezTo>
                  <a:lnTo>
                    <a:pt x="98261" y="36593"/>
                  </a:lnTo>
                  <a:lnTo>
                    <a:pt x="98261" y="18297"/>
                  </a:lnTo>
                  <a:lnTo>
                    <a:pt x="98261" y="36593"/>
                  </a:lnTo>
                  <a:cubicBezTo>
                    <a:pt x="63819" y="36593"/>
                    <a:pt x="36836" y="63307"/>
                    <a:pt x="36836" y="95143"/>
                  </a:cubicBezTo>
                  <a:close/>
                </a:path>
              </a:pathLst>
            </a:custGeom>
            <a:solidFill>
              <a:srgbClr val="D4CEC3"/>
            </a:solidFill>
          </p:spPr>
        </p:sp>
      </p:grpSp>
      <p:grpSp>
        <p:nvGrpSpPr>
          <p:cNvPr name="Group 27" id="27"/>
          <p:cNvGrpSpPr/>
          <p:nvPr/>
        </p:nvGrpSpPr>
        <p:grpSpPr>
          <a:xfrm rot="0">
            <a:off x="2062071" y="8807184"/>
            <a:ext cx="11854800" cy="762266"/>
            <a:chOff x="0" y="0"/>
            <a:chExt cx="15806400" cy="1016354"/>
          </a:xfrm>
        </p:grpSpPr>
        <p:sp>
          <p:nvSpPr>
            <p:cNvPr name="Freeform 28" id="28"/>
            <p:cNvSpPr/>
            <p:nvPr/>
          </p:nvSpPr>
          <p:spPr>
            <a:xfrm flipH="false" flipV="false" rot="0">
              <a:off x="18418" y="17458"/>
              <a:ext cx="15769555" cy="981482"/>
            </a:xfrm>
            <a:custGeom>
              <a:avLst/>
              <a:gdLst/>
              <a:ahLst/>
              <a:cxnLst/>
              <a:rect r="r" b="b" t="t" l="l"/>
              <a:pathLst>
                <a:path h="981482" w="15769555">
                  <a:moveTo>
                    <a:pt x="0" y="73323"/>
                  </a:moveTo>
                  <a:cubicBezTo>
                    <a:pt x="0" y="32821"/>
                    <a:pt x="35731" y="0"/>
                    <a:pt x="79843" y="0"/>
                  </a:cubicBezTo>
                  <a:lnTo>
                    <a:pt x="15689712" y="0"/>
                  </a:lnTo>
                  <a:cubicBezTo>
                    <a:pt x="15733824" y="0"/>
                    <a:pt x="15769555" y="32821"/>
                    <a:pt x="15769555" y="73323"/>
                  </a:cubicBezTo>
                  <a:lnTo>
                    <a:pt x="15769555" y="908159"/>
                  </a:lnTo>
                  <a:cubicBezTo>
                    <a:pt x="15769555" y="948661"/>
                    <a:pt x="15733824" y="981482"/>
                    <a:pt x="15689712" y="981482"/>
                  </a:cubicBezTo>
                  <a:lnTo>
                    <a:pt x="79843" y="981482"/>
                  </a:lnTo>
                  <a:cubicBezTo>
                    <a:pt x="35731" y="981482"/>
                    <a:pt x="0" y="948661"/>
                    <a:pt x="0" y="908159"/>
                  </a:cubicBezTo>
                  <a:close/>
                </a:path>
              </a:pathLst>
            </a:custGeom>
            <a:solidFill>
              <a:srgbClr val="F9F6F0"/>
            </a:solidFill>
          </p:spPr>
        </p:sp>
        <p:sp>
          <p:nvSpPr>
            <p:cNvPr name="Freeform 29" id="29"/>
            <p:cNvSpPr/>
            <p:nvPr/>
          </p:nvSpPr>
          <p:spPr>
            <a:xfrm flipH="false" flipV="false" rot="0">
              <a:off x="0" y="0"/>
              <a:ext cx="15806392" cy="1016418"/>
            </a:xfrm>
            <a:custGeom>
              <a:avLst/>
              <a:gdLst/>
              <a:ahLst/>
              <a:cxnLst/>
              <a:rect r="r" b="b" t="t" l="l"/>
              <a:pathLst>
                <a:path h="1016418" w="15806392">
                  <a:moveTo>
                    <a:pt x="0" y="90781"/>
                  </a:moveTo>
                  <a:cubicBezTo>
                    <a:pt x="0" y="40066"/>
                    <a:pt x="44572" y="0"/>
                    <a:pt x="98261" y="0"/>
                  </a:cubicBezTo>
                  <a:lnTo>
                    <a:pt x="15708130" y="0"/>
                  </a:lnTo>
                  <a:lnTo>
                    <a:pt x="15708130" y="17458"/>
                  </a:lnTo>
                  <a:lnTo>
                    <a:pt x="15708130" y="0"/>
                  </a:lnTo>
                  <a:cubicBezTo>
                    <a:pt x="15761818" y="0"/>
                    <a:pt x="15806392" y="40066"/>
                    <a:pt x="15806392" y="90781"/>
                  </a:cubicBezTo>
                  <a:lnTo>
                    <a:pt x="15787973" y="90781"/>
                  </a:lnTo>
                  <a:lnTo>
                    <a:pt x="15806392" y="90781"/>
                  </a:lnTo>
                  <a:lnTo>
                    <a:pt x="15806392" y="925617"/>
                  </a:lnTo>
                  <a:lnTo>
                    <a:pt x="15787973" y="925617"/>
                  </a:lnTo>
                  <a:lnTo>
                    <a:pt x="15806392" y="925617"/>
                  </a:lnTo>
                  <a:cubicBezTo>
                    <a:pt x="15806392" y="976245"/>
                    <a:pt x="15761818" y="1016418"/>
                    <a:pt x="15708130" y="1016418"/>
                  </a:cubicBezTo>
                  <a:lnTo>
                    <a:pt x="15708130" y="998940"/>
                  </a:lnTo>
                  <a:lnTo>
                    <a:pt x="15708130" y="1016418"/>
                  </a:lnTo>
                  <a:lnTo>
                    <a:pt x="98261" y="1016418"/>
                  </a:lnTo>
                  <a:lnTo>
                    <a:pt x="98261" y="998940"/>
                  </a:lnTo>
                  <a:lnTo>
                    <a:pt x="98261" y="1016418"/>
                  </a:lnTo>
                  <a:cubicBezTo>
                    <a:pt x="44572" y="1016311"/>
                    <a:pt x="0" y="976245"/>
                    <a:pt x="0" y="925617"/>
                  </a:cubicBezTo>
                  <a:lnTo>
                    <a:pt x="0" y="90781"/>
                  </a:lnTo>
                  <a:lnTo>
                    <a:pt x="18418" y="90781"/>
                  </a:lnTo>
                  <a:lnTo>
                    <a:pt x="0" y="90781"/>
                  </a:lnTo>
                  <a:moveTo>
                    <a:pt x="36836" y="90781"/>
                  </a:moveTo>
                  <a:lnTo>
                    <a:pt x="36836" y="925617"/>
                  </a:lnTo>
                  <a:lnTo>
                    <a:pt x="18418" y="925617"/>
                  </a:lnTo>
                  <a:lnTo>
                    <a:pt x="36836" y="925617"/>
                  </a:lnTo>
                  <a:cubicBezTo>
                    <a:pt x="36836" y="955906"/>
                    <a:pt x="63819" y="981482"/>
                    <a:pt x="98261" y="981482"/>
                  </a:cubicBezTo>
                  <a:lnTo>
                    <a:pt x="15708130" y="981482"/>
                  </a:lnTo>
                  <a:cubicBezTo>
                    <a:pt x="15742664" y="981482"/>
                    <a:pt x="15769555" y="955994"/>
                    <a:pt x="15769555" y="925617"/>
                  </a:cubicBezTo>
                  <a:lnTo>
                    <a:pt x="15769555" y="90781"/>
                  </a:lnTo>
                  <a:cubicBezTo>
                    <a:pt x="15769555" y="60492"/>
                    <a:pt x="15742572" y="34916"/>
                    <a:pt x="15708130" y="34916"/>
                  </a:cubicBezTo>
                  <a:lnTo>
                    <a:pt x="98261" y="34916"/>
                  </a:lnTo>
                  <a:lnTo>
                    <a:pt x="98261" y="17458"/>
                  </a:lnTo>
                  <a:lnTo>
                    <a:pt x="98261" y="34916"/>
                  </a:lnTo>
                  <a:cubicBezTo>
                    <a:pt x="63819" y="34916"/>
                    <a:pt x="36836" y="60404"/>
                    <a:pt x="36836" y="90781"/>
                  </a:cubicBezTo>
                  <a:close/>
                </a:path>
              </a:pathLst>
            </a:custGeom>
            <a:solidFill>
              <a:srgbClr val="D4CEC3"/>
            </a:solidFill>
          </p:spPr>
        </p:sp>
      </p:grpSp>
      <p:grpSp>
        <p:nvGrpSpPr>
          <p:cNvPr name="Group 30" id="30"/>
          <p:cNvGrpSpPr/>
          <p:nvPr/>
        </p:nvGrpSpPr>
        <p:grpSpPr>
          <a:xfrm rot="0">
            <a:off x="2062071" y="6496316"/>
            <a:ext cx="11854800" cy="798891"/>
            <a:chOff x="0" y="0"/>
            <a:chExt cx="15806400" cy="1065189"/>
          </a:xfrm>
        </p:grpSpPr>
        <p:sp>
          <p:nvSpPr>
            <p:cNvPr name="Freeform 31" id="31"/>
            <p:cNvSpPr/>
            <p:nvPr/>
          </p:nvSpPr>
          <p:spPr>
            <a:xfrm flipH="false" flipV="false" rot="0">
              <a:off x="18418" y="18297"/>
              <a:ext cx="15769555" cy="1028641"/>
            </a:xfrm>
            <a:custGeom>
              <a:avLst/>
              <a:gdLst/>
              <a:ahLst/>
              <a:cxnLst/>
              <a:rect r="r" b="b" t="t" l="l"/>
              <a:pathLst>
                <a:path h="1028641" w="15769555">
                  <a:moveTo>
                    <a:pt x="0" y="76846"/>
                  </a:moveTo>
                  <a:cubicBezTo>
                    <a:pt x="0" y="34398"/>
                    <a:pt x="35731" y="0"/>
                    <a:pt x="79843" y="0"/>
                  </a:cubicBezTo>
                  <a:lnTo>
                    <a:pt x="15689712" y="0"/>
                  </a:lnTo>
                  <a:cubicBezTo>
                    <a:pt x="15733824" y="0"/>
                    <a:pt x="15769555" y="34398"/>
                    <a:pt x="15769555" y="76846"/>
                  </a:cubicBezTo>
                  <a:lnTo>
                    <a:pt x="15769555" y="951794"/>
                  </a:lnTo>
                  <a:cubicBezTo>
                    <a:pt x="15769555" y="994243"/>
                    <a:pt x="15733824" y="1028641"/>
                    <a:pt x="15689712" y="1028641"/>
                  </a:cubicBezTo>
                  <a:lnTo>
                    <a:pt x="79843" y="1028641"/>
                  </a:lnTo>
                  <a:cubicBezTo>
                    <a:pt x="35731" y="1028641"/>
                    <a:pt x="0" y="994243"/>
                    <a:pt x="0" y="951794"/>
                  </a:cubicBezTo>
                  <a:close/>
                </a:path>
              </a:pathLst>
            </a:custGeom>
            <a:solidFill>
              <a:srgbClr val="F9F6F0"/>
            </a:solidFill>
          </p:spPr>
        </p:sp>
        <p:sp>
          <p:nvSpPr>
            <p:cNvPr name="Freeform 32" id="32"/>
            <p:cNvSpPr/>
            <p:nvPr/>
          </p:nvSpPr>
          <p:spPr>
            <a:xfrm flipH="false" flipV="false" rot="0">
              <a:off x="0" y="0"/>
              <a:ext cx="15806392" cy="1065252"/>
            </a:xfrm>
            <a:custGeom>
              <a:avLst/>
              <a:gdLst/>
              <a:ahLst/>
              <a:cxnLst/>
              <a:rect r="r" b="b" t="t" l="l"/>
              <a:pathLst>
                <a:path h="1065252" w="15806392">
                  <a:moveTo>
                    <a:pt x="0" y="95143"/>
                  </a:moveTo>
                  <a:cubicBezTo>
                    <a:pt x="0" y="41991"/>
                    <a:pt x="44572" y="0"/>
                    <a:pt x="98261" y="0"/>
                  </a:cubicBezTo>
                  <a:lnTo>
                    <a:pt x="15708130" y="0"/>
                  </a:lnTo>
                  <a:lnTo>
                    <a:pt x="15708130" y="18297"/>
                  </a:lnTo>
                  <a:lnTo>
                    <a:pt x="15708130" y="0"/>
                  </a:lnTo>
                  <a:cubicBezTo>
                    <a:pt x="15761818" y="0"/>
                    <a:pt x="15806392" y="41991"/>
                    <a:pt x="15806392" y="95143"/>
                  </a:cubicBezTo>
                  <a:lnTo>
                    <a:pt x="15787973" y="95143"/>
                  </a:lnTo>
                  <a:lnTo>
                    <a:pt x="15806392" y="95143"/>
                  </a:lnTo>
                  <a:lnTo>
                    <a:pt x="15806392" y="970091"/>
                  </a:lnTo>
                  <a:lnTo>
                    <a:pt x="15787973" y="970091"/>
                  </a:lnTo>
                  <a:lnTo>
                    <a:pt x="15806392" y="970091"/>
                  </a:lnTo>
                  <a:cubicBezTo>
                    <a:pt x="15806392" y="1023152"/>
                    <a:pt x="15761818" y="1065252"/>
                    <a:pt x="15708130" y="1065252"/>
                  </a:cubicBezTo>
                  <a:lnTo>
                    <a:pt x="15708130" y="1046938"/>
                  </a:lnTo>
                  <a:lnTo>
                    <a:pt x="15708130" y="1065252"/>
                  </a:lnTo>
                  <a:lnTo>
                    <a:pt x="98261" y="1065252"/>
                  </a:lnTo>
                  <a:lnTo>
                    <a:pt x="98261" y="1046938"/>
                  </a:lnTo>
                  <a:lnTo>
                    <a:pt x="98261" y="1065252"/>
                  </a:lnTo>
                  <a:cubicBezTo>
                    <a:pt x="44572" y="1065143"/>
                    <a:pt x="0" y="1023152"/>
                    <a:pt x="0" y="970091"/>
                  </a:cubicBezTo>
                  <a:lnTo>
                    <a:pt x="0" y="95143"/>
                  </a:lnTo>
                  <a:lnTo>
                    <a:pt x="18418" y="95143"/>
                  </a:lnTo>
                  <a:lnTo>
                    <a:pt x="0" y="95143"/>
                  </a:lnTo>
                  <a:moveTo>
                    <a:pt x="36836" y="95143"/>
                  </a:moveTo>
                  <a:lnTo>
                    <a:pt x="36836" y="970091"/>
                  </a:lnTo>
                  <a:lnTo>
                    <a:pt x="18418" y="970091"/>
                  </a:lnTo>
                  <a:lnTo>
                    <a:pt x="36836" y="970091"/>
                  </a:lnTo>
                  <a:cubicBezTo>
                    <a:pt x="36836" y="1001836"/>
                    <a:pt x="63819" y="1028641"/>
                    <a:pt x="98261" y="1028641"/>
                  </a:cubicBezTo>
                  <a:lnTo>
                    <a:pt x="15708130" y="1028641"/>
                  </a:lnTo>
                  <a:cubicBezTo>
                    <a:pt x="15742664" y="1028641"/>
                    <a:pt x="15769555" y="1001928"/>
                    <a:pt x="15769555" y="970091"/>
                  </a:cubicBezTo>
                  <a:lnTo>
                    <a:pt x="15769555" y="95143"/>
                  </a:lnTo>
                  <a:cubicBezTo>
                    <a:pt x="15769555" y="63398"/>
                    <a:pt x="15742572" y="36593"/>
                    <a:pt x="15708130" y="36593"/>
                  </a:cubicBezTo>
                  <a:lnTo>
                    <a:pt x="98261" y="36593"/>
                  </a:lnTo>
                  <a:lnTo>
                    <a:pt x="98261" y="18297"/>
                  </a:lnTo>
                  <a:lnTo>
                    <a:pt x="98261" y="36593"/>
                  </a:lnTo>
                  <a:cubicBezTo>
                    <a:pt x="63819" y="36593"/>
                    <a:pt x="36836" y="63307"/>
                    <a:pt x="36836" y="95143"/>
                  </a:cubicBezTo>
                  <a:close/>
                </a:path>
              </a:pathLst>
            </a:custGeom>
            <a:solidFill>
              <a:srgbClr val="D4CEC3"/>
            </a:solidFill>
          </p:spPr>
        </p:sp>
      </p:grpSp>
      <p:grpSp>
        <p:nvGrpSpPr>
          <p:cNvPr name="Group 33" id="33"/>
          <p:cNvGrpSpPr/>
          <p:nvPr/>
        </p:nvGrpSpPr>
        <p:grpSpPr>
          <a:xfrm rot="0">
            <a:off x="2075407" y="6484335"/>
            <a:ext cx="541734" cy="810872"/>
            <a:chOff x="0" y="0"/>
            <a:chExt cx="722312" cy="1081163"/>
          </a:xfrm>
        </p:grpSpPr>
        <p:sp>
          <p:nvSpPr>
            <p:cNvPr name="Freeform 34" id="34"/>
            <p:cNvSpPr/>
            <p:nvPr/>
          </p:nvSpPr>
          <p:spPr>
            <a:xfrm flipH="false" flipV="false" rot="0">
              <a:off x="0" y="0"/>
              <a:ext cx="722249" cy="1081069"/>
            </a:xfrm>
            <a:custGeom>
              <a:avLst/>
              <a:gdLst/>
              <a:ahLst/>
              <a:cxnLst/>
              <a:rect r="r" b="b" t="t" l="l"/>
              <a:pathLst>
                <a:path h="1081069" w="722249">
                  <a:moveTo>
                    <a:pt x="0" y="72046"/>
                  </a:moveTo>
                  <a:cubicBezTo>
                    <a:pt x="0" y="32316"/>
                    <a:pt x="21590" y="0"/>
                    <a:pt x="48133" y="0"/>
                  </a:cubicBezTo>
                  <a:lnTo>
                    <a:pt x="674116" y="0"/>
                  </a:lnTo>
                  <a:cubicBezTo>
                    <a:pt x="700659" y="0"/>
                    <a:pt x="722249" y="32316"/>
                    <a:pt x="722249" y="72046"/>
                  </a:cubicBezTo>
                  <a:lnTo>
                    <a:pt x="722249" y="1009022"/>
                  </a:lnTo>
                  <a:cubicBezTo>
                    <a:pt x="722249" y="1048752"/>
                    <a:pt x="700659" y="1081068"/>
                    <a:pt x="674116" y="1081068"/>
                  </a:cubicBezTo>
                  <a:lnTo>
                    <a:pt x="48133" y="1081068"/>
                  </a:lnTo>
                  <a:cubicBezTo>
                    <a:pt x="21590" y="1081226"/>
                    <a:pt x="0" y="1048942"/>
                    <a:pt x="0" y="1009022"/>
                  </a:cubicBezTo>
                  <a:close/>
                </a:path>
              </a:pathLst>
            </a:custGeom>
            <a:solidFill>
              <a:srgbClr val="D3C5B6"/>
            </a:solidFill>
          </p:spPr>
        </p:sp>
      </p:grpSp>
      <p:grpSp>
        <p:nvGrpSpPr>
          <p:cNvPr name="Group 35" id="35"/>
          <p:cNvGrpSpPr/>
          <p:nvPr/>
        </p:nvGrpSpPr>
        <p:grpSpPr>
          <a:xfrm rot="0">
            <a:off x="2075407" y="4104100"/>
            <a:ext cx="541734" cy="798891"/>
            <a:chOff x="0" y="0"/>
            <a:chExt cx="722312" cy="1065189"/>
          </a:xfrm>
        </p:grpSpPr>
        <p:sp>
          <p:nvSpPr>
            <p:cNvPr name="Freeform 36" id="36"/>
            <p:cNvSpPr/>
            <p:nvPr/>
          </p:nvSpPr>
          <p:spPr>
            <a:xfrm flipH="false" flipV="false" rot="0">
              <a:off x="0" y="0"/>
              <a:ext cx="722249" cy="1065095"/>
            </a:xfrm>
            <a:custGeom>
              <a:avLst/>
              <a:gdLst/>
              <a:ahLst/>
              <a:cxnLst/>
              <a:rect r="r" b="b" t="t" l="l"/>
              <a:pathLst>
                <a:path h="1065095" w="722249">
                  <a:moveTo>
                    <a:pt x="0" y="70981"/>
                  </a:moveTo>
                  <a:cubicBezTo>
                    <a:pt x="0" y="31839"/>
                    <a:pt x="21590" y="0"/>
                    <a:pt x="48133" y="0"/>
                  </a:cubicBezTo>
                  <a:lnTo>
                    <a:pt x="674116" y="0"/>
                  </a:lnTo>
                  <a:cubicBezTo>
                    <a:pt x="700659" y="0"/>
                    <a:pt x="722249" y="31839"/>
                    <a:pt x="722249" y="70981"/>
                  </a:cubicBezTo>
                  <a:lnTo>
                    <a:pt x="722249" y="994114"/>
                  </a:lnTo>
                  <a:cubicBezTo>
                    <a:pt x="722249" y="1033256"/>
                    <a:pt x="700659" y="1065095"/>
                    <a:pt x="674116" y="1065095"/>
                  </a:cubicBezTo>
                  <a:lnTo>
                    <a:pt x="48133" y="1065095"/>
                  </a:lnTo>
                  <a:cubicBezTo>
                    <a:pt x="21590" y="1065252"/>
                    <a:pt x="0" y="1033444"/>
                    <a:pt x="0" y="994114"/>
                  </a:cubicBezTo>
                  <a:close/>
                </a:path>
              </a:pathLst>
            </a:custGeom>
            <a:solidFill>
              <a:srgbClr val="D3C5B6"/>
            </a:solidFill>
          </p:spPr>
        </p:sp>
      </p:grpSp>
      <p:grpSp>
        <p:nvGrpSpPr>
          <p:cNvPr name="Group 37" id="37"/>
          <p:cNvGrpSpPr/>
          <p:nvPr/>
        </p:nvGrpSpPr>
        <p:grpSpPr>
          <a:xfrm rot="0">
            <a:off x="2068739" y="5266344"/>
            <a:ext cx="11854800" cy="798891"/>
            <a:chOff x="0" y="0"/>
            <a:chExt cx="15806400" cy="1065189"/>
          </a:xfrm>
        </p:grpSpPr>
        <p:sp>
          <p:nvSpPr>
            <p:cNvPr name="Freeform 38" id="38"/>
            <p:cNvSpPr/>
            <p:nvPr/>
          </p:nvSpPr>
          <p:spPr>
            <a:xfrm flipH="false" flipV="false" rot="0">
              <a:off x="18418" y="18297"/>
              <a:ext cx="15769555" cy="1028641"/>
            </a:xfrm>
            <a:custGeom>
              <a:avLst/>
              <a:gdLst/>
              <a:ahLst/>
              <a:cxnLst/>
              <a:rect r="r" b="b" t="t" l="l"/>
              <a:pathLst>
                <a:path h="1028641" w="15769555">
                  <a:moveTo>
                    <a:pt x="0" y="76846"/>
                  </a:moveTo>
                  <a:cubicBezTo>
                    <a:pt x="0" y="34398"/>
                    <a:pt x="35731" y="0"/>
                    <a:pt x="79843" y="0"/>
                  </a:cubicBezTo>
                  <a:lnTo>
                    <a:pt x="15689712" y="0"/>
                  </a:lnTo>
                  <a:cubicBezTo>
                    <a:pt x="15733824" y="0"/>
                    <a:pt x="15769555" y="34398"/>
                    <a:pt x="15769555" y="76846"/>
                  </a:cubicBezTo>
                  <a:lnTo>
                    <a:pt x="15769555" y="951794"/>
                  </a:lnTo>
                  <a:cubicBezTo>
                    <a:pt x="15769555" y="994243"/>
                    <a:pt x="15733824" y="1028641"/>
                    <a:pt x="15689712" y="1028641"/>
                  </a:cubicBezTo>
                  <a:lnTo>
                    <a:pt x="79843" y="1028641"/>
                  </a:lnTo>
                  <a:cubicBezTo>
                    <a:pt x="35731" y="1028641"/>
                    <a:pt x="0" y="994243"/>
                    <a:pt x="0" y="951794"/>
                  </a:cubicBezTo>
                  <a:close/>
                </a:path>
              </a:pathLst>
            </a:custGeom>
            <a:solidFill>
              <a:srgbClr val="F9F6F0"/>
            </a:solidFill>
          </p:spPr>
        </p:sp>
        <p:sp>
          <p:nvSpPr>
            <p:cNvPr name="Freeform 39" id="39"/>
            <p:cNvSpPr/>
            <p:nvPr/>
          </p:nvSpPr>
          <p:spPr>
            <a:xfrm flipH="false" flipV="false" rot="0">
              <a:off x="0" y="0"/>
              <a:ext cx="15806392" cy="1065252"/>
            </a:xfrm>
            <a:custGeom>
              <a:avLst/>
              <a:gdLst/>
              <a:ahLst/>
              <a:cxnLst/>
              <a:rect r="r" b="b" t="t" l="l"/>
              <a:pathLst>
                <a:path h="1065252" w="15806392">
                  <a:moveTo>
                    <a:pt x="0" y="95143"/>
                  </a:moveTo>
                  <a:cubicBezTo>
                    <a:pt x="0" y="41991"/>
                    <a:pt x="44572" y="0"/>
                    <a:pt x="98261" y="0"/>
                  </a:cubicBezTo>
                  <a:lnTo>
                    <a:pt x="15708130" y="0"/>
                  </a:lnTo>
                  <a:lnTo>
                    <a:pt x="15708130" y="18297"/>
                  </a:lnTo>
                  <a:lnTo>
                    <a:pt x="15708130" y="0"/>
                  </a:lnTo>
                  <a:cubicBezTo>
                    <a:pt x="15761818" y="0"/>
                    <a:pt x="15806392" y="41991"/>
                    <a:pt x="15806392" y="95143"/>
                  </a:cubicBezTo>
                  <a:lnTo>
                    <a:pt x="15787973" y="95143"/>
                  </a:lnTo>
                  <a:lnTo>
                    <a:pt x="15806392" y="95143"/>
                  </a:lnTo>
                  <a:lnTo>
                    <a:pt x="15806392" y="970091"/>
                  </a:lnTo>
                  <a:lnTo>
                    <a:pt x="15787973" y="970091"/>
                  </a:lnTo>
                  <a:lnTo>
                    <a:pt x="15806392" y="970091"/>
                  </a:lnTo>
                  <a:cubicBezTo>
                    <a:pt x="15806392" y="1023152"/>
                    <a:pt x="15761818" y="1065252"/>
                    <a:pt x="15708130" y="1065252"/>
                  </a:cubicBezTo>
                  <a:lnTo>
                    <a:pt x="15708130" y="1046938"/>
                  </a:lnTo>
                  <a:lnTo>
                    <a:pt x="15708130" y="1065252"/>
                  </a:lnTo>
                  <a:lnTo>
                    <a:pt x="98261" y="1065252"/>
                  </a:lnTo>
                  <a:lnTo>
                    <a:pt x="98261" y="1046938"/>
                  </a:lnTo>
                  <a:lnTo>
                    <a:pt x="98261" y="1065252"/>
                  </a:lnTo>
                  <a:cubicBezTo>
                    <a:pt x="44572" y="1065143"/>
                    <a:pt x="0" y="1023152"/>
                    <a:pt x="0" y="970091"/>
                  </a:cubicBezTo>
                  <a:lnTo>
                    <a:pt x="0" y="95143"/>
                  </a:lnTo>
                  <a:lnTo>
                    <a:pt x="18418" y="95143"/>
                  </a:lnTo>
                  <a:lnTo>
                    <a:pt x="0" y="95143"/>
                  </a:lnTo>
                  <a:moveTo>
                    <a:pt x="36836" y="95143"/>
                  </a:moveTo>
                  <a:lnTo>
                    <a:pt x="36836" y="970091"/>
                  </a:lnTo>
                  <a:lnTo>
                    <a:pt x="18418" y="970091"/>
                  </a:lnTo>
                  <a:lnTo>
                    <a:pt x="36836" y="970091"/>
                  </a:lnTo>
                  <a:cubicBezTo>
                    <a:pt x="36836" y="1001836"/>
                    <a:pt x="63819" y="1028641"/>
                    <a:pt x="98261" y="1028641"/>
                  </a:cubicBezTo>
                  <a:lnTo>
                    <a:pt x="15708130" y="1028641"/>
                  </a:lnTo>
                  <a:cubicBezTo>
                    <a:pt x="15742664" y="1028641"/>
                    <a:pt x="15769555" y="1001928"/>
                    <a:pt x="15769555" y="970091"/>
                  </a:cubicBezTo>
                  <a:lnTo>
                    <a:pt x="15769555" y="95143"/>
                  </a:lnTo>
                  <a:cubicBezTo>
                    <a:pt x="15769555" y="63398"/>
                    <a:pt x="15742572" y="36593"/>
                    <a:pt x="15708130" y="36593"/>
                  </a:cubicBezTo>
                  <a:lnTo>
                    <a:pt x="98261" y="36593"/>
                  </a:lnTo>
                  <a:lnTo>
                    <a:pt x="98261" y="18297"/>
                  </a:lnTo>
                  <a:lnTo>
                    <a:pt x="98261" y="36593"/>
                  </a:lnTo>
                  <a:cubicBezTo>
                    <a:pt x="63819" y="36593"/>
                    <a:pt x="36836" y="63307"/>
                    <a:pt x="36836" y="95143"/>
                  </a:cubicBezTo>
                  <a:close/>
                </a:path>
              </a:pathLst>
            </a:custGeom>
            <a:solidFill>
              <a:srgbClr val="D4CEC3"/>
            </a:solidFill>
          </p:spPr>
        </p:sp>
      </p:grpSp>
      <p:grpSp>
        <p:nvGrpSpPr>
          <p:cNvPr name="Group 40" id="40"/>
          <p:cNvGrpSpPr/>
          <p:nvPr/>
        </p:nvGrpSpPr>
        <p:grpSpPr>
          <a:xfrm rot="0">
            <a:off x="2075407" y="5282103"/>
            <a:ext cx="541734" cy="783133"/>
            <a:chOff x="0" y="0"/>
            <a:chExt cx="722312" cy="1044177"/>
          </a:xfrm>
        </p:grpSpPr>
        <p:sp>
          <p:nvSpPr>
            <p:cNvPr name="Freeform 41" id="41"/>
            <p:cNvSpPr/>
            <p:nvPr/>
          </p:nvSpPr>
          <p:spPr>
            <a:xfrm flipH="false" flipV="false" rot="0">
              <a:off x="0" y="0"/>
              <a:ext cx="722249" cy="1044086"/>
            </a:xfrm>
            <a:custGeom>
              <a:avLst/>
              <a:gdLst/>
              <a:ahLst/>
              <a:cxnLst/>
              <a:rect r="r" b="b" t="t" l="l"/>
              <a:pathLst>
                <a:path h="1044086" w="722249">
                  <a:moveTo>
                    <a:pt x="0" y="69581"/>
                  </a:moveTo>
                  <a:cubicBezTo>
                    <a:pt x="0" y="31211"/>
                    <a:pt x="21590" y="0"/>
                    <a:pt x="48133" y="0"/>
                  </a:cubicBezTo>
                  <a:lnTo>
                    <a:pt x="674116" y="0"/>
                  </a:lnTo>
                  <a:cubicBezTo>
                    <a:pt x="700659" y="0"/>
                    <a:pt x="722249" y="31211"/>
                    <a:pt x="722249" y="69581"/>
                  </a:cubicBezTo>
                  <a:lnTo>
                    <a:pt x="722249" y="974504"/>
                  </a:lnTo>
                  <a:cubicBezTo>
                    <a:pt x="722249" y="1012875"/>
                    <a:pt x="700659" y="1044085"/>
                    <a:pt x="674116" y="1044085"/>
                  </a:cubicBezTo>
                  <a:lnTo>
                    <a:pt x="48133" y="1044085"/>
                  </a:lnTo>
                  <a:cubicBezTo>
                    <a:pt x="21590" y="1044241"/>
                    <a:pt x="0" y="1013058"/>
                    <a:pt x="0" y="974504"/>
                  </a:cubicBezTo>
                  <a:close/>
                </a:path>
              </a:pathLst>
            </a:custGeom>
            <a:solidFill>
              <a:srgbClr val="D3C5B6"/>
            </a:solidFill>
          </p:spPr>
        </p:sp>
      </p:grpSp>
      <p:grpSp>
        <p:nvGrpSpPr>
          <p:cNvPr name="Group 42" id="42"/>
          <p:cNvGrpSpPr/>
          <p:nvPr/>
        </p:nvGrpSpPr>
        <p:grpSpPr>
          <a:xfrm rot="0">
            <a:off x="2062071" y="8827038"/>
            <a:ext cx="541734" cy="742412"/>
            <a:chOff x="0" y="0"/>
            <a:chExt cx="722312" cy="989883"/>
          </a:xfrm>
        </p:grpSpPr>
        <p:sp>
          <p:nvSpPr>
            <p:cNvPr name="Freeform 43" id="43"/>
            <p:cNvSpPr/>
            <p:nvPr/>
          </p:nvSpPr>
          <p:spPr>
            <a:xfrm flipH="false" flipV="false" rot="0">
              <a:off x="0" y="0"/>
              <a:ext cx="722249" cy="989797"/>
            </a:xfrm>
            <a:custGeom>
              <a:avLst/>
              <a:gdLst/>
              <a:ahLst/>
              <a:cxnLst/>
              <a:rect r="r" b="b" t="t" l="l"/>
              <a:pathLst>
                <a:path h="989797" w="722249">
                  <a:moveTo>
                    <a:pt x="0" y="65963"/>
                  </a:moveTo>
                  <a:cubicBezTo>
                    <a:pt x="0" y="29588"/>
                    <a:pt x="21590" y="0"/>
                    <a:pt x="48133" y="0"/>
                  </a:cubicBezTo>
                  <a:lnTo>
                    <a:pt x="674116" y="0"/>
                  </a:lnTo>
                  <a:cubicBezTo>
                    <a:pt x="700659" y="0"/>
                    <a:pt x="722249" y="29588"/>
                    <a:pt x="722249" y="65963"/>
                  </a:cubicBezTo>
                  <a:lnTo>
                    <a:pt x="722249" y="923833"/>
                  </a:lnTo>
                  <a:cubicBezTo>
                    <a:pt x="722249" y="960208"/>
                    <a:pt x="700659" y="989796"/>
                    <a:pt x="674116" y="989796"/>
                  </a:cubicBezTo>
                  <a:lnTo>
                    <a:pt x="48133" y="989796"/>
                  </a:lnTo>
                  <a:cubicBezTo>
                    <a:pt x="21590" y="989947"/>
                    <a:pt x="0" y="960382"/>
                    <a:pt x="0" y="923833"/>
                  </a:cubicBezTo>
                  <a:close/>
                </a:path>
              </a:pathLst>
            </a:custGeom>
            <a:solidFill>
              <a:srgbClr val="D3C5B6"/>
            </a:solidFill>
          </p:spPr>
        </p:sp>
      </p:grpSp>
      <p:grpSp>
        <p:nvGrpSpPr>
          <p:cNvPr name="Group 44" id="44"/>
          <p:cNvGrpSpPr/>
          <p:nvPr/>
        </p:nvGrpSpPr>
        <p:grpSpPr>
          <a:xfrm rot="0">
            <a:off x="2062071" y="7713018"/>
            <a:ext cx="575667" cy="798891"/>
            <a:chOff x="0" y="0"/>
            <a:chExt cx="767556" cy="1065189"/>
          </a:xfrm>
        </p:grpSpPr>
        <p:sp>
          <p:nvSpPr>
            <p:cNvPr name="Freeform 45" id="45"/>
            <p:cNvSpPr/>
            <p:nvPr/>
          </p:nvSpPr>
          <p:spPr>
            <a:xfrm flipH="false" flipV="false" rot="0">
              <a:off x="0" y="0"/>
              <a:ext cx="767489" cy="1065095"/>
            </a:xfrm>
            <a:custGeom>
              <a:avLst/>
              <a:gdLst/>
              <a:ahLst/>
              <a:cxnLst/>
              <a:rect r="r" b="b" t="t" l="l"/>
              <a:pathLst>
                <a:path h="1065095" w="767489">
                  <a:moveTo>
                    <a:pt x="0" y="70981"/>
                  </a:moveTo>
                  <a:cubicBezTo>
                    <a:pt x="0" y="31839"/>
                    <a:pt x="22942" y="0"/>
                    <a:pt x="51148" y="0"/>
                  </a:cubicBezTo>
                  <a:lnTo>
                    <a:pt x="716341" y="0"/>
                  </a:lnTo>
                  <a:cubicBezTo>
                    <a:pt x="744546" y="0"/>
                    <a:pt x="767489" y="31839"/>
                    <a:pt x="767489" y="70981"/>
                  </a:cubicBezTo>
                  <a:lnTo>
                    <a:pt x="767489" y="994114"/>
                  </a:lnTo>
                  <a:cubicBezTo>
                    <a:pt x="767489" y="1033256"/>
                    <a:pt x="744546" y="1065095"/>
                    <a:pt x="716341" y="1065095"/>
                  </a:cubicBezTo>
                  <a:lnTo>
                    <a:pt x="51148" y="1065095"/>
                  </a:lnTo>
                  <a:cubicBezTo>
                    <a:pt x="22942" y="1065252"/>
                    <a:pt x="0" y="1033444"/>
                    <a:pt x="0" y="994114"/>
                  </a:cubicBezTo>
                  <a:close/>
                </a:path>
              </a:pathLst>
            </a:custGeom>
            <a:solidFill>
              <a:srgbClr val="D3C5B6"/>
            </a:solidFill>
          </p:spPr>
        </p:sp>
      </p:grpSp>
      <p:sp>
        <p:nvSpPr>
          <p:cNvPr name="Freeform 46" id="46"/>
          <p:cNvSpPr/>
          <p:nvPr/>
        </p:nvSpPr>
        <p:spPr>
          <a:xfrm flipH="false" flipV="false" rot="0">
            <a:off x="-615873" y="0"/>
            <a:ext cx="1864025" cy="1731849"/>
          </a:xfrm>
          <a:custGeom>
            <a:avLst/>
            <a:gdLst/>
            <a:ahLst/>
            <a:cxnLst/>
            <a:rect r="r" b="b" t="t" l="l"/>
            <a:pathLst>
              <a:path h="1731849" w="1864025">
                <a:moveTo>
                  <a:pt x="0" y="0"/>
                </a:moveTo>
                <a:lnTo>
                  <a:pt x="1864025" y="0"/>
                </a:lnTo>
                <a:lnTo>
                  <a:pt x="1864025" y="1731849"/>
                </a:lnTo>
                <a:lnTo>
                  <a:pt x="0" y="17318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47" id="47"/>
          <p:cNvSpPr txBox="true"/>
          <p:nvPr/>
        </p:nvSpPr>
        <p:spPr>
          <a:xfrm rot="0">
            <a:off x="3104420" y="2426384"/>
            <a:ext cx="1581150" cy="388938"/>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Foundation</a:t>
            </a:r>
          </a:p>
        </p:txBody>
      </p:sp>
      <p:sp>
        <p:nvSpPr>
          <p:cNvPr name="TextBox 48" id="48"/>
          <p:cNvSpPr txBox="true"/>
          <p:nvPr/>
        </p:nvSpPr>
        <p:spPr>
          <a:xfrm rot="0">
            <a:off x="3010673" y="3221117"/>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Quranic Arabic Corpus</a:t>
            </a:r>
          </a:p>
        </p:txBody>
      </p:sp>
      <p:sp>
        <p:nvSpPr>
          <p:cNvPr name="TextBox 49" id="49"/>
          <p:cNvSpPr txBox="true"/>
          <p:nvPr/>
        </p:nvSpPr>
        <p:spPr>
          <a:xfrm rot="0">
            <a:off x="1250288" y="501653"/>
            <a:ext cx="8367500" cy="1059200"/>
          </a:xfrm>
          <a:prstGeom prst="rect">
            <a:avLst/>
          </a:prstGeom>
        </p:spPr>
        <p:txBody>
          <a:bodyPr anchor="t" rtlCol="false" tIns="0" lIns="0" bIns="0" rIns="0">
            <a:spAutoFit/>
          </a:bodyPr>
          <a:lstStyle/>
          <a:p>
            <a:pPr algn="ctr">
              <a:lnSpc>
                <a:spcPts val="8153"/>
              </a:lnSpc>
            </a:pPr>
            <a:r>
              <a:rPr lang="en-US" sz="7412" spc="185">
                <a:solidFill>
                  <a:srgbClr val="484237"/>
                </a:solidFill>
                <a:latin typeface="Forum"/>
                <a:ea typeface="Forum"/>
                <a:cs typeface="Forum"/>
                <a:sym typeface="Forum"/>
              </a:rPr>
              <a:t>Literature Review</a:t>
            </a:r>
          </a:p>
        </p:txBody>
      </p:sp>
      <p:sp>
        <p:nvSpPr>
          <p:cNvPr name="TextBox 50" id="50"/>
          <p:cNvSpPr txBox="true"/>
          <p:nvPr/>
        </p:nvSpPr>
        <p:spPr>
          <a:xfrm rot="0">
            <a:off x="2246262" y="3261660"/>
            <a:ext cx="200025" cy="404813"/>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1</a:t>
            </a:r>
          </a:p>
        </p:txBody>
      </p:sp>
      <p:sp>
        <p:nvSpPr>
          <p:cNvPr name="TextBox 51" id="51"/>
          <p:cNvSpPr txBox="true"/>
          <p:nvPr/>
        </p:nvSpPr>
        <p:spPr>
          <a:xfrm rot="0">
            <a:off x="7115903" y="2426384"/>
            <a:ext cx="990600" cy="388938"/>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Source</a:t>
            </a:r>
          </a:p>
        </p:txBody>
      </p:sp>
      <p:sp>
        <p:nvSpPr>
          <p:cNvPr name="TextBox 52" id="52"/>
          <p:cNvSpPr txBox="true"/>
          <p:nvPr/>
        </p:nvSpPr>
        <p:spPr>
          <a:xfrm rot="0">
            <a:off x="11127808" y="2426384"/>
            <a:ext cx="1971433" cy="372729"/>
          </a:xfrm>
          <a:prstGeom prst="rect">
            <a:avLst/>
          </a:prstGeom>
        </p:spPr>
        <p:txBody>
          <a:bodyPr anchor="t" rtlCol="false" tIns="0" lIns="0" bIns="0" rIns="0">
            <a:spAutoFit/>
          </a:bodyPr>
          <a:lstStyle/>
          <a:p>
            <a:pPr algn="l">
              <a:lnSpc>
                <a:spcPts val="2801"/>
              </a:lnSpc>
            </a:pPr>
            <a:r>
              <a:rPr lang="en-US" sz="2205" b="true">
                <a:solidFill>
                  <a:srgbClr val="746558"/>
                </a:solidFill>
                <a:latin typeface="Arimo Bold"/>
                <a:ea typeface="Arimo Bold"/>
                <a:cs typeface="Arimo Bold"/>
                <a:sym typeface="Arimo Bold"/>
              </a:rPr>
              <a:t>Role in Jawhar</a:t>
            </a:r>
          </a:p>
        </p:txBody>
      </p:sp>
      <p:sp>
        <p:nvSpPr>
          <p:cNvPr name="TextBox 53" id="53"/>
          <p:cNvSpPr txBox="true"/>
          <p:nvPr/>
        </p:nvSpPr>
        <p:spPr>
          <a:xfrm rot="0">
            <a:off x="2233595" y="4320189"/>
            <a:ext cx="198686" cy="395287"/>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2</a:t>
            </a:r>
          </a:p>
        </p:txBody>
      </p:sp>
      <p:sp>
        <p:nvSpPr>
          <p:cNvPr name="TextBox 54" id="54"/>
          <p:cNvSpPr txBox="true"/>
          <p:nvPr/>
        </p:nvSpPr>
        <p:spPr>
          <a:xfrm rot="0">
            <a:off x="3010673" y="7756863"/>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LLM Chatbot in Language Learning</a:t>
            </a:r>
          </a:p>
        </p:txBody>
      </p:sp>
      <p:sp>
        <p:nvSpPr>
          <p:cNvPr name="TextBox 55" id="55"/>
          <p:cNvSpPr txBox="true"/>
          <p:nvPr/>
        </p:nvSpPr>
        <p:spPr>
          <a:xfrm rot="0">
            <a:off x="3104420" y="5490560"/>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Farasa NLP</a:t>
            </a:r>
          </a:p>
        </p:txBody>
      </p:sp>
      <p:sp>
        <p:nvSpPr>
          <p:cNvPr name="TextBox 56" id="56"/>
          <p:cNvSpPr txBox="true"/>
          <p:nvPr/>
        </p:nvSpPr>
        <p:spPr>
          <a:xfrm rot="0">
            <a:off x="3080538" y="8990730"/>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Gamification Review</a:t>
            </a:r>
          </a:p>
        </p:txBody>
      </p:sp>
      <p:sp>
        <p:nvSpPr>
          <p:cNvPr name="TextBox 57" id="57"/>
          <p:cNvSpPr txBox="true"/>
          <p:nvPr/>
        </p:nvSpPr>
        <p:spPr>
          <a:xfrm rot="0">
            <a:off x="3104420" y="4319062"/>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CAMel Tools</a:t>
            </a:r>
          </a:p>
        </p:txBody>
      </p:sp>
      <p:sp>
        <p:nvSpPr>
          <p:cNvPr name="TextBox 58" id="58"/>
          <p:cNvSpPr txBox="true"/>
          <p:nvPr/>
        </p:nvSpPr>
        <p:spPr>
          <a:xfrm rot="0">
            <a:off x="3010673" y="6496431"/>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Spaced Practice Meta Analysis</a:t>
            </a:r>
          </a:p>
        </p:txBody>
      </p:sp>
      <p:sp>
        <p:nvSpPr>
          <p:cNvPr name="TextBox 59" id="59"/>
          <p:cNvSpPr txBox="true"/>
          <p:nvPr/>
        </p:nvSpPr>
        <p:spPr>
          <a:xfrm rot="0">
            <a:off x="6442818" y="4147612"/>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Obeid et al, NYU Abu Dhabi 2020</a:t>
            </a:r>
          </a:p>
        </p:txBody>
      </p:sp>
      <p:sp>
        <p:nvSpPr>
          <p:cNvPr name="TextBox 60" id="60"/>
          <p:cNvSpPr txBox="true"/>
          <p:nvPr/>
        </p:nvSpPr>
        <p:spPr>
          <a:xfrm rot="0">
            <a:off x="10894301" y="3049667"/>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Primary Linguistic dataset (77,430 words)</a:t>
            </a:r>
          </a:p>
        </p:txBody>
      </p:sp>
      <p:sp>
        <p:nvSpPr>
          <p:cNvPr name="TextBox 61" id="61"/>
          <p:cNvSpPr txBox="true"/>
          <p:nvPr/>
        </p:nvSpPr>
        <p:spPr>
          <a:xfrm rot="0">
            <a:off x="6423768" y="6508412"/>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Kim &amp; Webb, 2022 (63 studies</a:t>
            </a:r>
          </a:p>
        </p:txBody>
      </p:sp>
      <p:sp>
        <p:nvSpPr>
          <p:cNvPr name="TextBox 62" id="62"/>
          <p:cNvSpPr txBox="true"/>
          <p:nvPr/>
        </p:nvSpPr>
        <p:spPr>
          <a:xfrm rot="0">
            <a:off x="6442818" y="3102712"/>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Dukes &amp; Habash, LREC 2010</a:t>
            </a:r>
          </a:p>
        </p:txBody>
      </p:sp>
      <p:sp>
        <p:nvSpPr>
          <p:cNvPr name="TextBox 63" id="63"/>
          <p:cNvSpPr txBox="true"/>
          <p:nvPr/>
        </p:nvSpPr>
        <p:spPr>
          <a:xfrm rot="0">
            <a:off x="6423768" y="5490560"/>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ABdelali et al, QCRI 2016</a:t>
            </a:r>
          </a:p>
        </p:txBody>
      </p:sp>
      <p:sp>
        <p:nvSpPr>
          <p:cNvPr name="TextBox 64" id="64"/>
          <p:cNvSpPr txBox="true"/>
          <p:nvPr/>
        </p:nvSpPr>
        <p:spPr>
          <a:xfrm rot="0">
            <a:off x="6595218" y="7756863"/>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Zhang &amp; Huang, Heliyon 2024</a:t>
            </a:r>
          </a:p>
        </p:txBody>
      </p:sp>
      <p:sp>
        <p:nvSpPr>
          <p:cNvPr name="TextBox 65" id="65"/>
          <p:cNvSpPr txBox="true"/>
          <p:nvPr/>
        </p:nvSpPr>
        <p:spPr>
          <a:xfrm rot="0">
            <a:off x="10894301" y="4235793"/>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Powers the Sarf Engine</a:t>
            </a:r>
          </a:p>
        </p:txBody>
      </p:sp>
      <p:sp>
        <p:nvSpPr>
          <p:cNvPr name="TextBox 66" id="66"/>
          <p:cNvSpPr txBox="true"/>
          <p:nvPr/>
        </p:nvSpPr>
        <p:spPr>
          <a:xfrm rot="0">
            <a:off x="10795388" y="7756863"/>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Validates AI Tutor as learning intervention</a:t>
            </a:r>
          </a:p>
        </p:txBody>
      </p:sp>
      <p:sp>
        <p:nvSpPr>
          <p:cNvPr name="TextBox 67" id="67"/>
          <p:cNvSpPr txBox="true"/>
          <p:nvPr/>
        </p:nvSpPr>
        <p:spPr>
          <a:xfrm rot="0">
            <a:off x="10795388" y="6496431"/>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Vocabulary SRS retention approach</a:t>
            </a:r>
          </a:p>
        </p:txBody>
      </p:sp>
      <p:sp>
        <p:nvSpPr>
          <p:cNvPr name="TextBox 68" id="68"/>
          <p:cNvSpPr txBox="true"/>
          <p:nvPr/>
        </p:nvSpPr>
        <p:spPr>
          <a:xfrm rot="0">
            <a:off x="10795388" y="5490560"/>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Powers the Nahw Parser</a:t>
            </a:r>
          </a:p>
        </p:txBody>
      </p:sp>
      <p:sp>
        <p:nvSpPr>
          <p:cNvPr name="TextBox 69" id="69"/>
          <p:cNvSpPr txBox="true"/>
          <p:nvPr/>
        </p:nvSpPr>
        <p:spPr>
          <a:xfrm rot="0">
            <a:off x="6595218" y="8969713"/>
            <a:ext cx="302257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Hamari et al, HICSS 2014</a:t>
            </a:r>
          </a:p>
        </p:txBody>
      </p:sp>
      <p:sp>
        <p:nvSpPr>
          <p:cNvPr name="TextBox 70" id="70"/>
          <p:cNvSpPr txBox="true"/>
          <p:nvPr/>
        </p:nvSpPr>
        <p:spPr>
          <a:xfrm rot="0">
            <a:off x="10795388" y="8835759"/>
            <a:ext cx="3022570" cy="6985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Validates streaks, badges, leaderboards</a:t>
            </a:r>
          </a:p>
        </p:txBody>
      </p:sp>
      <p:sp>
        <p:nvSpPr>
          <p:cNvPr name="TextBox 71" id="71"/>
          <p:cNvSpPr txBox="true"/>
          <p:nvPr/>
        </p:nvSpPr>
        <p:spPr>
          <a:xfrm rot="0">
            <a:off x="2250562" y="9023274"/>
            <a:ext cx="198686" cy="395287"/>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6</a:t>
            </a:r>
          </a:p>
        </p:txBody>
      </p:sp>
      <p:sp>
        <p:nvSpPr>
          <p:cNvPr name="TextBox 72" id="72"/>
          <p:cNvSpPr txBox="true"/>
          <p:nvPr/>
        </p:nvSpPr>
        <p:spPr>
          <a:xfrm rot="0">
            <a:off x="2233595" y="7960857"/>
            <a:ext cx="198686" cy="395287"/>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5</a:t>
            </a:r>
          </a:p>
        </p:txBody>
      </p:sp>
      <p:sp>
        <p:nvSpPr>
          <p:cNvPr name="TextBox 73" id="73"/>
          <p:cNvSpPr txBox="true"/>
          <p:nvPr/>
        </p:nvSpPr>
        <p:spPr>
          <a:xfrm rot="0">
            <a:off x="2250562" y="6712406"/>
            <a:ext cx="198686" cy="395287"/>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4</a:t>
            </a:r>
          </a:p>
        </p:txBody>
      </p:sp>
      <p:sp>
        <p:nvSpPr>
          <p:cNvPr name="TextBox 74" id="74"/>
          <p:cNvSpPr txBox="true"/>
          <p:nvPr/>
        </p:nvSpPr>
        <p:spPr>
          <a:xfrm rot="0">
            <a:off x="2286653" y="5482433"/>
            <a:ext cx="198686" cy="395287"/>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grpSp>
        <p:nvGrpSpPr>
          <p:cNvPr name="Group 12" id="12"/>
          <p:cNvGrpSpPr/>
          <p:nvPr/>
        </p:nvGrpSpPr>
        <p:grpSpPr>
          <a:xfrm rot="0">
            <a:off x="973188" y="4129535"/>
            <a:ext cx="8061874" cy="2487368"/>
            <a:chOff x="0" y="0"/>
            <a:chExt cx="10749166" cy="3316491"/>
          </a:xfrm>
        </p:grpSpPr>
        <p:sp>
          <p:nvSpPr>
            <p:cNvPr name="Freeform 13" id="13"/>
            <p:cNvSpPr/>
            <p:nvPr/>
          </p:nvSpPr>
          <p:spPr>
            <a:xfrm flipH="false" flipV="false" rot="0">
              <a:off x="25400" y="25400"/>
              <a:ext cx="10698352" cy="3265678"/>
            </a:xfrm>
            <a:custGeom>
              <a:avLst/>
              <a:gdLst/>
              <a:ahLst/>
              <a:cxnLst/>
              <a:rect r="r" b="b" t="t" l="l"/>
              <a:pathLst>
                <a:path h="3265678" w="10698352">
                  <a:moveTo>
                    <a:pt x="0" y="243840"/>
                  </a:moveTo>
                  <a:cubicBezTo>
                    <a:pt x="0" y="109220"/>
                    <a:pt x="110363" y="0"/>
                    <a:pt x="246507" y="0"/>
                  </a:cubicBezTo>
                  <a:lnTo>
                    <a:pt x="10451846" y="0"/>
                  </a:lnTo>
                  <a:cubicBezTo>
                    <a:pt x="10587989" y="0"/>
                    <a:pt x="10698352" y="109220"/>
                    <a:pt x="10698352" y="243840"/>
                  </a:cubicBezTo>
                  <a:lnTo>
                    <a:pt x="10698352" y="3021838"/>
                  </a:lnTo>
                  <a:cubicBezTo>
                    <a:pt x="10698352" y="3156458"/>
                    <a:pt x="10587989" y="3265678"/>
                    <a:pt x="10451846" y="3265678"/>
                  </a:cubicBezTo>
                  <a:lnTo>
                    <a:pt x="246507" y="3265678"/>
                  </a:lnTo>
                  <a:cubicBezTo>
                    <a:pt x="110363" y="3265678"/>
                    <a:pt x="0" y="3156458"/>
                    <a:pt x="0" y="3021838"/>
                  </a:cubicBezTo>
                  <a:close/>
                </a:path>
              </a:pathLst>
            </a:custGeom>
            <a:solidFill>
              <a:srgbClr val="F9F6F0"/>
            </a:solidFill>
          </p:spPr>
        </p:sp>
        <p:sp>
          <p:nvSpPr>
            <p:cNvPr name="Freeform 14" id="14"/>
            <p:cNvSpPr/>
            <p:nvPr/>
          </p:nvSpPr>
          <p:spPr>
            <a:xfrm flipH="false" flipV="false" rot="0">
              <a:off x="0" y="0"/>
              <a:ext cx="10749152" cy="3316478"/>
            </a:xfrm>
            <a:custGeom>
              <a:avLst/>
              <a:gdLst/>
              <a:ahLst/>
              <a:cxnLst/>
              <a:rect r="r" b="b" t="t" l="l"/>
              <a:pathLst>
                <a:path h="3316478" w="10749152">
                  <a:moveTo>
                    <a:pt x="0" y="269240"/>
                  </a:moveTo>
                  <a:cubicBezTo>
                    <a:pt x="0" y="120269"/>
                    <a:pt x="121920" y="0"/>
                    <a:pt x="271907" y="0"/>
                  </a:cubicBezTo>
                  <a:lnTo>
                    <a:pt x="10477246" y="0"/>
                  </a:lnTo>
                  <a:lnTo>
                    <a:pt x="10477246" y="25400"/>
                  </a:lnTo>
                  <a:lnTo>
                    <a:pt x="10477246" y="0"/>
                  </a:lnTo>
                  <a:cubicBezTo>
                    <a:pt x="10627106" y="0"/>
                    <a:pt x="10749152" y="120269"/>
                    <a:pt x="10749152" y="269240"/>
                  </a:cubicBezTo>
                  <a:lnTo>
                    <a:pt x="10723752" y="269240"/>
                  </a:lnTo>
                  <a:lnTo>
                    <a:pt x="10749152" y="269240"/>
                  </a:lnTo>
                  <a:lnTo>
                    <a:pt x="10749152" y="3047238"/>
                  </a:lnTo>
                  <a:lnTo>
                    <a:pt x="10723752" y="3047238"/>
                  </a:lnTo>
                  <a:lnTo>
                    <a:pt x="10749152" y="3047238"/>
                  </a:lnTo>
                  <a:cubicBezTo>
                    <a:pt x="10749152" y="3196209"/>
                    <a:pt x="10627233" y="3316478"/>
                    <a:pt x="10477246" y="3316478"/>
                  </a:cubicBezTo>
                  <a:lnTo>
                    <a:pt x="10477246" y="3291078"/>
                  </a:lnTo>
                  <a:lnTo>
                    <a:pt x="10477246" y="3316478"/>
                  </a:lnTo>
                  <a:lnTo>
                    <a:pt x="271907" y="3316478"/>
                  </a:lnTo>
                  <a:lnTo>
                    <a:pt x="271907" y="3291078"/>
                  </a:lnTo>
                  <a:lnTo>
                    <a:pt x="271907" y="3316478"/>
                  </a:lnTo>
                  <a:cubicBezTo>
                    <a:pt x="121920" y="3316478"/>
                    <a:pt x="0" y="3196209"/>
                    <a:pt x="0" y="3047238"/>
                  </a:cubicBezTo>
                  <a:lnTo>
                    <a:pt x="0" y="269240"/>
                  </a:lnTo>
                  <a:lnTo>
                    <a:pt x="25400" y="269240"/>
                  </a:lnTo>
                  <a:lnTo>
                    <a:pt x="0" y="269240"/>
                  </a:lnTo>
                  <a:moveTo>
                    <a:pt x="50800" y="269240"/>
                  </a:moveTo>
                  <a:lnTo>
                    <a:pt x="50800" y="3047238"/>
                  </a:lnTo>
                  <a:lnTo>
                    <a:pt x="25400" y="3047238"/>
                  </a:lnTo>
                  <a:lnTo>
                    <a:pt x="50800" y="3047238"/>
                  </a:lnTo>
                  <a:cubicBezTo>
                    <a:pt x="50800" y="3167634"/>
                    <a:pt x="149479" y="3265678"/>
                    <a:pt x="271907" y="3265678"/>
                  </a:cubicBezTo>
                  <a:lnTo>
                    <a:pt x="10477246" y="3265678"/>
                  </a:lnTo>
                  <a:cubicBezTo>
                    <a:pt x="10599547" y="3265678"/>
                    <a:pt x="10698352" y="3167634"/>
                    <a:pt x="10698352" y="3047238"/>
                  </a:cubicBezTo>
                  <a:lnTo>
                    <a:pt x="10698352" y="269240"/>
                  </a:lnTo>
                  <a:cubicBezTo>
                    <a:pt x="10698352" y="148844"/>
                    <a:pt x="10599674" y="50800"/>
                    <a:pt x="10477246" y="50800"/>
                  </a:cubicBezTo>
                  <a:lnTo>
                    <a:pt x="271907" y="50800"/>
                  </a:lnTo>
                  <a:lnTo>
                    <a:pt x="271907" y="25400"/>
                  </a:lnTo>
                  <a:lnTo>
                    <a:pt x="271907" y="50800"/>
                  </a:lnTo>
                  <a:cubicBezTo>
                    <a:pt x="149479" y="50800"/>
                    <a:pt x="50800" y="148844"/>
                    <a:pt x="50800" y="269240"/>
                  </a:cubicBezTo>
                  <a:close/>
                </a:path>
              </a:pathLst>
            </a:custGeom>
            <a:solidFill>
              <a:srgbClr val="D4CEC3"/>
            </a:solidFill>
          </p:spPr>
        </p:sp>
      </p:grpSp>
      <p:grpSp>
        <p:nvGrpSpPr>
          <p:cNvPr name="Group 15" id="15"/>
          <p:cNvGrpSpPr/>
          <p:nvPr/>
        </p:nvGrpSpPr>
        <p:grpSpPr>
          <a:xfrm rot="0">
            <a:off x="954138" y="4148585"/>
            <a:ext cx="152400" cy="2449268"/>
            <a:chOff x="0" y="0"/>
            <a:chExt cx="203200" cy="3265691"/>
          </a:xfrm>
        </p:grpSpPr>
        <p:sp>
          <p:nvSpPr>
            <p:cNvPr name="Freeform 16" id="16"/>
            <p:cNvSpPr/>
            <p:nvPr/>
          </p:nvSpPr>
          <p:spPr>
            <a:xfrm flipH="false" flipV="false" rot="0">
              <a:off x="0" y="0"/>
              <a:ext cx="203200" cy="3265678"/>
            </a:xfrm>
            <a:custGeom>
              <a:avLst/>
              <a:gdLst/>
              <a:ahLst/>
              <a:cxnLst/>
              <a:rect r="r" b="b" t="t" l="l"/>
              <a:pathLst>
                <a:path h="3265678" w="203200">
                  <a:moveTo>
                    <a:pt x="0" y="53848"/>
                  </a:moveTo>
                  <a:cubicBezTo>
                    <a:pt x="0" y="24130"/>
                    <a:pt x="24130" y="0"/>
                    <a:pt x="53848" y="0"/>
                  </a:cubicBezTo>
                  <a:lnTo>
                    <a:pt x="149352" y="0"/>
                  </a:lnTo>
                  <a:cubicBezTo>
                    <a:pt x="179070" y="0"/>
                    <a:pt x="203200" y="24130"/>
                    <a:pt x="203200" y="53848"/>
                  </a:cubicBezTo>
                  <a:lnTo>
                    <a:pt x="203200" y="3211830"/>
                  </a:lnTo>
                  <a:cubicBezTo>
                    <a:pt x="203200" y="3241548"/>
                    <a:pt x="179070" y="3265678"/>
                    <a:pt x="149352" y="3265678"/>
                  </a:cubicBezTo>
                  <a:lnTo>
                    <a:pt x="53848" y="3265678"/>
                  </a:lnTo>
                  <a:cubicBezTo>
                    <a:pt x="24130" y="3265678"/>
                    <a:pt x="0" y="3241548"/>
                    <a:pt x="0" y="3211830"/>
                  </a:cubicBezTo>
                  <a:close/>
                </a:path>
              </a:pathLst>
            </a:custGeom>
            <a:solidFill>
              <a:srgbClr val="BFA486"/>
            </a:solidFill>
          </p:spPr>
        </p:sp>
      </p:grpSp>
      <p:grpSp>
        <p:nvGrpSpPr>
          <p:cNvPr name="Group 17" id="17"/>
          <p:cNvGrpSpPr/>
          <p:nvPr/>
        </p:nvGrpSpPr>
        <p:grpSpPr>
          <a:xfrm rot="0">
            <a:off x="9252795" y="4129535"/>
            <a:ext cx="8062017" cy="2487368"/>
            <a:chOff x="0" y="0"/>
            <a:chExt cx="10749356" cy="3316491"/>
          </a:xfrm>
        </p:grpSpPr>
        <p:sp>
          <p:nvSpPr>
            <p:cNvPr name="Freeform 18" id="18"/>
            <p:cNvSpPr/>
            <p:nvPr/>
          </p:nvSpPr>
          <p:spPr>
            <a:xfrm flipH="false" flipV="false" rot="0">
              <a:off x="25400" y="25400"/>
              <a:ext cx="10698607" cy="3265678"/>
            </a:xfrm>
            <a:custGeom>
              <a:avLst/>
              <a:gdLst/>
              <a:ahLst/>
              <a:cxnLst/>
              <a:rect r="r" b="b" t="t" l="l"/>
              <a:pathLst>
                <a:path h="3265678" w="10698607">
                  <a:moveTo>
                    <a:pt x="0" y="243840"/>
                  </a:moveTo>
                  <a:cubicBezTo>
                    <a:pt x="0" y="109220"/>
                    <a:pt x="110363" y="0"/>
                    <a:pt x="246507" y="0"/>
                  </a:cubicBezTo>
                  <a:lnTo>
                    <a:pt x="10452100" y="0"/>
                  </a:lnTo>
                  <a:cubicBezTo>
                    <a:pt x="10588244" y="0"/>
                    <a:pt x="10698607" y="109220"/>
                    <a:pt x="10698607" y="243840"/>
                  </a:cubicBezTo>
                  <a:lnTo>
                    <a:pt x="10698607" y="3021838"/>
                  </a:lnTo>
                  <a:cubicBezTo>
                    <a:pt x="10698607" y="3156458"/>
                    <a:pt x="10588244" y="3265678"/>
                    <a:pt x="10452100" y="3265678"/>
                  </a:cubicBezTo>
                  <a:lnTo>
                    <a:pt x="246507" y="3265678"/>
                  </a:lnTo>
                  <a:cubicBezTo>
                    <a:pt x="110363" y="3265678"/>
                    <a:pt x="0" y="3156458"/>
                    <a:pt x="0" y="3021838"/>
                  </a:cubicBezTo>
                  <a:close/>
                </a:path>
              </a:pathLst>
            </a:custGeom>
            <a:solidFill>
              <a:srgbClr val="F9F6F0"/>
            </a:solidFill>
          </p:spPr>
        </p:sp>
        <p:sp>
          <p:nvSpPr>
            <p:cNvPr name="Freeform 19" id="19"/>
            <p:cNvSpPr/>
            <p:nvPr/>
          </p:nvSpPr>
          <p:spPr>
            <a:xfrm flipH="false" flipV="false" rot="0">
              <a:off x="0" y="0"/>
              <a:ext cx="10749407" cy="3316478"/>
            </a:xfrm>
            <a:custGeom>
              <a:avLst/>
              <a:gdLst/>
              <a:ahLst/>
              <a:cxnLst/>
              <a:rect r="r" b="b" t="t" l="l"/>
              <a:pathLst>
                <a:path h="3316478" w="10749407">
                  <a:moveTo>
                    <a:pt x="0" y="269240"/>
                  </a:moveTo>
                  <a:cubicBezTo>
                    <a:pt x="0" y="120269"/>
                    <a:pt x="121920" y="0"/>
                    <a:pt x="271907" y="0"/>
                  </a:cubicBezTo>
                  <a:lnTo>
                    <a:pt x="10477500" y="0"/>
                  </a:lnTo>
                  <a:lnTo>
                    <a:pt x="10477500" y="25400"/>
                  </a:lnTo>
                  <a:lnTo>
                    <a:pt x="10477500" y="0"/>
                  </a:lnTo>
                  <a:cubicBezTo>
                    <a:pt x="10627360" y="0"/>
                    <a:pt x="10749407" y="120269"/>
                    <a:pt x="10749407" y="269240"/>
                  </a:cubicBezTo>
                  <a:lnTo>
                    <a:pt x="10724007" y="269240"/>
                  </a:lnTo>
                  <a:lnTo>
                    <a:pt x="10749407" y="269240"/>
                  </a:lnTo>
                  <a:lnTo>
                    <a:pt x="10749407" y="3047238"/>
                  </a:lnTo>
                  <a:lnTo>
                    <a:pt x="10724007" y="3047238"/>
                  </a:lnTo>
                  <a:lnTo>
                    <a:pt x="10749407" y="3047238"/>
                  </a:lnTo>
                  <a:cubicBezTo>
                    <a:pt x="10749407" y="3196209"/>
                    <a:pt x="10627487" y="3316478"/>
                    <a:pt x="10477500" y="3316478"/>
                  </a:cubicBezTo>
                  <a:lnTo>
                    <a:pt x="10477500" y="3291078"/>
                  </a:lnTo>
                  <a:lnTo>
                    <a:pt x="10477500" y="3316478"/>
                  </a:lnTo>
                  <a:lnTo>
                    <a:pt x="271907" y="3316478"/>
                  </a:lnTo>
                  <a:lnTo>
                    <a:pt x="271907" y="3291078"/>
                  </a:lnTo>
                  <a:lnTo>
                    <a:pt x="271907" y="3316478"/>
                  </a:lnTo>
                  <a:cubicBezTo>
                    <a:pt x="121920" y="3316478"/>
                    <a:pt x="0" y="3196209"/>
                    <a:pt x="0" y="3047238"/>
                  </a:cubicBezTo>
                  <a:lnTo>
                    <a:pt x="0" y="269240"/>
                  </a:lnTo>
                  <a:lnTo>
                    <a:pt x="25400" y="269240"/>
                  </a:lnTo>
                  <a:lnTo>
                    <a:pt x="0" y="269240"/>
                  </a:lnTo>
                  <a:moveTo>
                    <a:pt x="50800" y="269240"/>
                  </a:moveTo>
                  <a:lnTo>
                    <a:pt x="50800" y="3047238"/>
                  </a:lnTo>
                  <a:lnTo>
                    <a:pt x="25400" y="3047238"/>
                  </a:lnTo>
                  <a:lnTo>
                    <a:pt x="50800" y="3047238"/>
                  </a:lnTo>
                  <a:cubicBezTo>
                    <a:pt x="50800" y="3167634"/>
                    <a:pt x="149479" y="3265678"/>
                    <a:pt x="271907" y="3265678"/>
                  </a:cubicBezTo>
                  <a:lnTo>
                    <a:pt x="10477500" y="3265678"/>
                  </a:lnTo>
                  <a:cubicBezTo>
                    <a:pt x="10599801" y="3265678"/>
                    <a:pt x="10698607" y="3167634"/>
                    <a:pt x="10698607" y="3047238"/>
                  </a:cubicBezTo>
                  <a:lnTo>
                    <a:pt x="10698607" y="269240"/>
                  </a:lnTo>
                  <a:cubicBezTo>
                    <a:pt x="10698607" y="148844"/>
                    <a:pt x="10599801" y="50800"/>
                    <a:pt x="10477500" y="50800"/>
                  </a:cubicBezTo>
                  <a:lnTo>
                    <a:pt x="271907" y="50800"/>
                  </a:lnTo>
                  <a:lnTo>
                    <a:pt x="271907" y="25400"/>
                  </a:lnTo>
                  <a:lnTo>
                    <a:pt x="271907" y="50800"/>
                  </a:lnTo>
                  <a:cubicBezTo>
                    <a:pt x="149479" y="50800"/>
                    <a:pt x="50800" y="148844"/>
                    <a:pt x="50800" y="269240"/>
                  </a:cubicBezTo>
                  <a:close/>
                </a:path>
              </a:pathLst>
            </a:custGeom>
            <a:solidFill>
              <a:srgbClr val="D4CEC3"/>
            </a:solidFill>
          </p:spPr>
        </p:sp>
      </p:grpSp>
      <p:grpSp>
        <p:nvGrpSpPr>
          <p:cNvPr name="Group 20" id="20"/>
          <p:cNvGrpSpPr/>
          <p:nvPr/>
        </p:nvGrpSpPr>
        <p:grpSpPr>
          <a:xfrm rot="0">
            <a:off x="9233745" y="4148585"/>
            <a:ext cx="152400" cy="2449268"/>
            <a:chOff x="0" y="0"/>
            <a:chExt cx="203200" cy="3265691"/>
          </a:xfrm>
        </p:grpSpPr>
        <p:sp>
          <p:nvSpPr>
            <p:cNvPr name="Freeform 21" id="21"/>
            <p:cNvSpPr/>
            <p:nvPr/>
          </p:nvSpPr>
          <p:spPr>
            <a:xfrm flipH="false" flipV="false" rot="0">
              <a:off x="0" y="0"/>
              <a:ext cx="203200" cy="3265678"/>
            </a:xfrm>
            <a:custGeom>
              <a:avLst/>
              <a:gdLst/>
              <a:ahLst/>
              <a:cxnLst/>
              <a:rect r="r" b="b" t="t" l="l"/>
              <a:pathLst>
                <a:path h="3265678" w="203200">
                  <a:moveTo>
                    <a:pt x="0" y="53848"/>
                  </a:moveTo>
                  <a:cubicBezTo>
                    <a:pt x="0" y="24130"/>
                    <a:pt x="24130" y="0"/>
                    <a:pt x="53848" y="0"/>
                  </a:cubicBezTo>
                  <a:lnTo>
                    <a:pt x="149352" y="0"/>
                  </a:lnTo>
                  <a:cubicBezTo>
                    <a:pt x="179070" y="0"/>
                    <a:pt x="203200" y="24130"/>
                    <a:pt x="203200" y="53848"/>
                  </a:cubicBezTo>
                  <a:lnTo>
                    <a:pt x="203200" y="3211830"/>
                  </a:lnTo>
                  <a:cubicBezTo>
                    <a:pt x="203200" y="3241548"/>
                    <a:pt x="179070" y="3265678"/>
                    <a:pt x="149352" y="3265678"/>
                  </a:cubicBezTo>
                  <a:lnTo>
                    <a:pt x="53848" y="3265678"/>
                  </a:lnTo>
                  <a:cubicBezTo>
                    <a:pt x="24130" y="3265678"/>
                    <a:pt x="0" y="3241548"/>
                    <a:pt x="0" y="3211830"/>
                  </a:cubicBezTo>
                  <a:close/>
                </a:path>
              </a:pathLst>
            </a:custGeom>
            <a:solidFill>
              <a:srgbClr val="BFA486"/>
            </a:solidFill>
          </p:spPr>
        </p:sp>
      </p:grpSp>
      <p:grpSp>
        <p:nvGrpSpPr>
          <p:cNvPr name="Group 22" id="22"/>
          <p:cNvGrpSpPr/>
          <p:nvPr/>
        </p:nvGrpSpPr>
        <p:grpSpPr>
          <a:xfrm rot="0">
            <a:off x="973188" y="6834635"/>
            <a:ext cx="8061874" cy="2487368"/>
            <a:chOff x="0" y="0"/>
            <a:chExt cx="10749166" cy="3316491"/>
          </a:xfrm>
        </p:grpSpPr>
        <p:sp>
          <p:nvSpPr>
            <p:cNvPr name="Freeform 23" id="23"/>
            <p:cNvSpPr/>
            <p:nvPr/>
          </p:nvSpPr>
          <p:spPr>
            <a:xfrm flipH="false" flipV="false" rot="0">
              <a:off x="25400" y="25400"/>
              <a:ext cx="10698352" cy="3265678"/>
            </a:xfrm>
            <a:custGeom>
              <a:avLst/>
              <a:gdLst/>
              <a:ahLst/>
              <a:cxnLst/>
              <a:rect r="r" b="b" t="t" l="l"/>
              <a:pathLst>
                <a:path h="3265678" w="10698352">
                  <a:moveTo>
                    <a:pt x="0" y="243840"/>
                  </a:moveTo>
                  <a:cubicBezTo>
                    <a:pt x="0" y="109220"/>
                    <a:pt x="110363" y="0"/>
                    <a:pt x="246507" y="0"/>
                  </a:cubicBezTo>
                  <a:lnTo>
                    <a:pt x="10451846" y="0"/>
                  </a:lnTo>
                  <a:cubicBezTo>
                    <a:pt x="10587989" y="0"/>
                    <a:pt x="10698352" y="109220"/>
                    <a:pt x="10698352" y="243840"/>
                  </a:cubicBezTo>
                  <a:lnTo>
                    <a:pt x="10698352" y="3021838"/>
                  </a:lnTo>
                  <a:cubicBezTo>
                    <a:pt x="10698352" y="3156458"/>
                    <a:pt x="10587989" y="3265678"/>
                    <a:pt x="10451846" y="3265678"/>
                  </a:cubicBezTo>
                  <a:lnTo>
                    <a:pt x="246507" y="3265678"/>
                  </a:lnTo>
                  <a:cubicBezTo>
                    <a:pt x="110363" y="3265678"/>
                    <a:pt x="0" y="3156458"/>
                    <a:pt x="0" y="3021838"/>
                  </a:cubicBezTo>
                  <a:close/>
                </a:path>
              </a:pathLst>
            </a:custGeom>
            <a:solidFill>
              <a:srgbClr val="F9F6F0"/>
            </a:solidFill>
          </p:spPr>
        </p:sp>
        <p:sp>
          <p:nvSpPr>
            <p:cNvPr name="Freeform 24" id="24"/>
            <p:cNvSpPr/>
            <p:nvPr/>
          </p:nvSpPr>
          <p:spPr>
            <a:xfrm flipH="false" flipV="false" rot="0">
              <a:off x="0" y="0"/>
              <a:ext cx="10749152" cy="3316478"/>
            </a:xfrm>
            <a:custGeom>
              <a:avLst/>
              <a:gdLst/>
              <a:ahLst/>
              <a:cxnLst/>
              <a:rect r="r" b="b" t="t" l="l"/>
              <a:pathLst>
                <a:path h="3316478" w="10749152">
                  <a:moveTo>
                    <a:pt x="0" y="269240"/>
                  </a:moveTo>
                  <a:cubicBezTo>
                    <a:pt x="0" y="120269"/>
                    <a:pt x="121920" y="0"/>
                    <a:pt x="271907" y="0"/>
                  </a:cubicBezTo>
                  <a:lnTo>
                    <a:pt x="10477246" y="0"/>
                  </a:lnTo>
                  <a:lnTo>
                    <a:pt x="10477246" y="25400"/>
                  </a:lnTo>
                  <a:lnTo>
                    <a:pt x="10477246" y="0"/>
                  </a:lnTo>
                  <a:cubicBezTo>
                    <a:pt x="10627106" y="0"/>
                    <a:pt x="10749152" y="120269"/>
                    <a:pt x="10749152" y="269240"/>
                  </a:cubicBezTo>
                  <a:lnTo>
                    <a:pt x="10723752" y="269240"/>
                  </a:lnTo>
                  <a:lnTo>
                    <a:pt x="10749152" y="269240"/>
                  </a:lnTo>
                  <a:lnTo>
                    <a:pt x="10749152" y="3047238"/>
                  </a:lnTo>
                  <a:lnTo>
                    <a:pt x="10723752" y="3047238"/>
                  </a:lnTo>
                  <a:lnTo>
                    <a:pt x="10749152" y="3047238"/>
                  </a:lnTo>
                  <a:cubicBezTo>
                    <a:pt x="10749152" y="3196209"/>
                    <a:pt x="10627233" y="3316478"/>
                    <a:pt x="10477246" y="3316478"/>
                  </a:cubicBezTo>
                  <a:lnTo>
                    <a:pt x="10477246" y="3291078"/>
                  </a:lnTo>
                  <a:lnTo>
                    <a:pt x="10477246" y="3316478"/>
                  </a:lnTo>
                  <a:lnTo>
                    <a:pt x="271907" y="3316478"/>
                  </a:lnTo>
                  <a:lnTo>
                    <a:pt x="271907" y="3291078"/>
                  </a:lnTo>
                  <a:lnTo>
                    <a:pt x="271907" y="3316478"/>
                  </a:lnTo>
                  <a:cubicBezTo>
                    <a:pt x="121920" y="3316478"/>
                    <a:pt x="0" y="3196209"/>
                    <a:pt x="0" y="3047238"/>
                  </a:cubicBezTo>
                  <a:lnTo>
                    <a:pt x="0" y="269240"/>
                  </a:lnTo>
                  <a:lnTo>
                    <a:pt x="25400" y="269240"/>
                  </a:lnTo>
                  <a:lnTo>
                    <a:pt x="0" y="269240"/>
                  </a:lnTo>
                  <a:moveTo>
                    <a:pt x="50800" y="269240"/>
                  </a:moveTo>
                  <a:lnTo>
                    <a:pt x="50800" y="3047238"/>
                  </a:lnTo>
                  <a:lnTo>
                    <a:pt x="25400" y="3047238"/>
                  </a:lnTo>
                  <a:lnTo>
                    <a:pt x="50800" y="3047238"/>
                  </a:lnTo>
                  <a:cubicBezTo>
                    <a:pt x="50800" y="3167634"/>
                    <a:pt x="149479" y="3265678"/>
                    <a:pt x="271907" y="3265678"/>
                  </a:cubicBezTo>
                  <a:lnTo>
                    <a:pt x="10477246" y="3265678"/>
                  </a:lnTo>
                  <a:cubicBezTo>
                    <a:pt x="10599547" y="3265678"/>
                    <a:pt x="10698352" y="3167634"/>
                    <a:pt x="10698352" y="3047238"/>
                  </a:cubicBezTo>
                  <a:lnTo>
                    <a:pt x="10698352" y="269240"/>
                  </a:lnTo>
                  <a:cubicBezTo>
                    <a:pt x="10698352" y="148844"/>
                    <a:pt x="10599674" y="50800"/>
                    <a:pt x="10477246" y="50800"/>
                  </a:cubicBezTo>
                  <a:lnTo>
                    <a:pt x="271907" y="50800"/>
                  </a:lnTo>
                  <a:lnTo>
                    <a:pt x="271907" y="25400"/>
                  </a:lnTo>
                  <a:lnTo>
                    <a:pt x="271907" y="50800"/>
                  </a:lnTo>
                  <a:cubicBezTo>
                    <a:pt x="149479" y="50800"/>
                    <a:pt x="50800" y="148844"/>
                    <a:pt x="50800" y="269240"/>
                  </a:cubicBezTo>
                  <a:close/>
                </a:path>
              </a:pathLst>
            </a:custGeom>
            <a:solidFill>
              <a:srgbClr val="D4CEC3"/>
            </a:solidFill>
          </p:spPr>
        </p:sp>
      </p:grpSp>
      <p:grpSp>
        <p:nvGrpSpPr>
          <p:cNvPr name="Group 25" id="25"/>
          <p:cNvGrpSpPr/>
          <p:nvPr/>
        </p:nvGrpSpPr>
        <p:grpSpPr>
          <a:xfrm rot="0">
            <a:off x="954138" y="6853685"/>
            <a:ext cx="152400" cy="2449268"/>
            <a:chOff x="0" y="0"/>
            <a:chExt cx="203200" cy="3265691"/>
          </a:xfrm>
        </p:grpSpPr>
        <p:sp>
          <p:nvSpPr>
            <p:cNvPr name="Freeform 26" id="26"/>
            <p:cNvSpPr/>
            <p:nvPr/>
          </p:nvSpPr>
          <p:spPr>
            <a:xfrm flipH="false" flipV="false" rot="0">
              <a:off x="0" y="0"/>
              <a:ext cx="203200" cy="3265678"/>
            </a:xfrm>
            <a:custGeom>
              <a:avLst/>
              <a:gdLst/>
              <a:ahLst/>
              <a:cxnLst/>
              <a:rect r="r" b="b" t="t" l="l"/>
              <a:pathLst>
                <a:path h="3265678" w="203200">
                  <a:moveTo>
                    <a:pt x="0" y="53848"/>
                  </a:moveTo>
                  <a:cubicBezTo>
                    <a:pt x="0" y="24130"/>
                    <a:pt x="24130" y="0"/>
                    <a:pt x="53848" y="0"/>
                  </a:cubicBezTo>
                  <a:lnTo>
                    <a:pt x="149352" y="0"/>
                  </a:lnTo>
                  <a:cubicBezTo>
                    <a:pt x="179070" y="0"/>
                    <a:pt x="203200" y="24130"/>
                    <a:pt x="203200" y="53848"/>
                  </a:cubicBezTo>
                  <a:lnTo>
                    <a:pt x="203200" y="3211830"/>
                  </a:lnTo>
                  <a:cubicBezTo>
                    <a:pt x="203200" y="3241548"/>
                    <a:pt x="179070" y="3265678"/>
                    <a:pt x="149352" y="3265678"/>
                  </a:cubicBezTo>
                  <a:lnTo>
                    <a:pt x="53848" y="3265678"/>
                  </a:lnTo>
                  <a:cubicBezTo>
                    <a:pt x="24130" y="3265678"/>
                    <a:pt x="0" y="3241548"/>
                    <a:pt x="0" y="3211830"/>
                  </a:cubicBezTo>
                  <a:close/>
                </a:path>
              </a:pathLst>
            </a:custGeom>
            <a:solidFill>
              <a:srgbClr val="BFA486"/>
            </a:solidFill>
          </p:spPr>
        </p:sp>
      </p:grpSp>
      <p:grpSp>
        <p:nvGrpSpPr>
          <p:cNvPr name="Group 27" id="27"/>
          <p:cNvGrpSpPr/>
          <p:nvPr/>
        </p:nvGrpSpPr>
        <p:grpSpPr>
          <a:xfrm rot="0">
            <a:off x="9252795" y="6834635"/>
            <a:ext cx="8062017" cy="2487368"/>
            <a:chOff x="0" y="0"/>
            <a:chExt cx="10749356" cy="3316491"/>
          </a:xfrm>
        </p:grpSpPr>
        <p:sp>
          <p:nvSpPr>
            <p:cNvPr name="Freeform 28" id="28"/>
            <p:cNvSpPr/>
            <p:nvPr/>
          </p:nvSpPr>
          <p:spPr>
            <a:xfrm flipH="false" flipV="false" rot="0">
              <a:off x="25400" y="25400"/>
              <a:ext cx="10698607" cy="3265678"/>
            </a:xfrm>
            <a:custGeom>
              <a:avLst/>
              <a:gdLst/>
              <a:ahLst/>
              <a:cxnLst/>
              <a:rect r="r" b="b" t="t" l="l"/>
              <a:pathLst>
                <a:path h="3265678" w="10698607">
                  <a:moveTo>
                    <a:pt x="0" y="243840"/>
                  </a:moveTo>
                  <a:cubicBezTo>
                    <a:pt x="0" y="109220"/>
                    <a:pt x="110363" y="0"/>
                    <a:pt x="246507" y="0"/>
                  </a:cubicBezTo>
                  <a:lnTo>
                    <a:pt x="10452100" y="0"/>
                  </a:lnTo>
                  <a:cubicBezTo>
                    <a:pt x="10588244" y="0"/>
                    <a:pt x="10698607" y="109220"/>
                    <a:pt x="10698607" y="243840"/>
                  </a:cubicBezTo>
                  <a:lnTo>
                    <a:pt x="10698607" y="3021838"/>
                  </a:lnTo>
                  <a:cubicBezTo>
                    <a:pt x="10698607" y="3156458"/>
                    <a:pt x="10588244" y="3265678"/>
                    <a:pt x="10452100" y="3265678"/>
                  </a:cubicBezTo>
                  <a:lnTo>
                    <a:pt x="246507" y="3265678"/>
                  </a:lnTo>
                  <a:cubicBezTo>
                    <a:pt x="110363" y="3265678"/>
                    <a:pt x="0" y="3156458"/>
                    <a:pt x="0" y="3021838"/>
                  </a:cubicBezTo>
                  <a:close/>
                </a:path>
              </a:pathLst>
            </a:custGeom>
            <a:solidFill>
              <a:srgbClr val="F9F6F0"/>
            </a:solidFill>
          </p:spPr>
        </p:sp>
        <p:sp>
          <p:nvSpPr>
            <p:cNvPr name="Freeform 29" id="29"/>
            <p:cNvSpPr/>
            <p:nvPr/>
          </p:nvSpPr>
          <p:spPr>
            <a:xfrm flipH="false" flipV="false" rot="0">
              <a:off x="0" y="0"/>
              <a:ext cx="10749407" cy="3316478"/>
            </a:xfrm>
            <a:custGeom>
              <a:avLst/>
              <a:gdLst/>
              <a:ahLst/>
              <a:cxnLst/>
              <a:rect r="r" b="b" t="t" l="l"/>
              <a:pathLst>
                <a:path h="3316478" w="10749407">
                  <a:moveTo>
                    <a:pt x="0" y="269240"/>
                  </a:moveTo>
                  <a:cubicBezTo>
                    <a:pt x="0" y="120269"/>
                    <a:pt x="121920" y="0"/>
                    <a:pt x="271907" y="0"/>
                  </a:cubicBezTo>
                  <a:lnTo>
                    <a:pt x="10477500" y="0"/>
                  </a:lnTo>
                  <a:lnTo>
                    <a:pt x="10477500" y="25400"/>
                  </a:lnTo>
                  <a:lnTo>
                    <a:pt x="10477500" y="0"/>
                  </a:lnTo>
                  <a:cubicBezTo>
                    <a:pt x="10627360" y="0"/>
                    <a:pt x="10749407" y="120269"/>
                    <a:pt x="10749407" y="269240"/>
                  </a:cubicBezTo>
                  <a:lnTo>
                    <a:pt x="10724007" y="269240"/>
                  </a:lnTo>
                  <a:lnTo>
                    <a:pt x="10749407" y="269240"/>
                  </a:lnTo>
                  <a:lnTo>
                    <a:pt x="10749407" y="3047238"/>
                  </a:lnTo>
                  <a:lnTo>
                    <a:pt x="10724007" y="3047238"/>
                  </a:lnTo>
                  <a:lnTo>
                    <a:pt x="10749407" y="3047238"/>
                  </a:lnTo>
                  <a:cubicBezTo>
                    <a:pt x="10749407" y="3196209"/>
                    <a:pt x="10627487" y="3316478"/>
                    <a:pt x="10477500" y="3316478"/>
                  </a:cubicBezTo>
                  <a:lnTo>
                    <a:pt x="10477500" y="3291078"/>
                  </a:lnTo>
                  <a:lnTo>
                    <a:pt x="10477500" y="3316478"/>
                  </a:lnTo>
                  <a:lnTo>
                    <a:pt x="271907" y="3316478"/>
                  </a:lnTo>
                  <a:lnTo>
                    <a:pt x="271907" y="3291078"/>
                  </a:lnTo>
                  <a:lnTo>
                    <a:pt x="271907" y="3316478"/>
                  </a:lnTo>
                  <a:cubicBezTo>
                    <a:pt x="121920" y="3316478"/>
                    <a:pt x="0" y="3196209"/>
                    <a:pt x="0" y="3047238"/>
                  </a:cubicBezTo>
                  <a:lnTo>
                    <a:pt x="0" y="269240"/>
                  </a:lnTo>
                  <a:lnTo>
                    <a:pt x="25400" y="269240"/>
                  </a:lnTo>
                  <a:lnTo>
                    <a:pt x="0" y="269240"/>
                  </a:lnTo>
                  <a:moveTo>
                    <a:pt x="50800" y="269240"/>
                  </a:moveTo>
                  <a:lnTo>
                    <a:pt x="50800" y="3047238"/>
                  </a:lnTo>
                  <a:lnTo>
                    <a:pt x="25400" y="3047238"/>
                  </a:lnTo>
                  <a:lnTo>
                    <a:pt x="50800" y="3047238"/>
                  </a:lnTo>
                  <a:cubicBezTo>
                    <a:pt x="50800" y="3167634"/>
                    <a:pt x="149479" y="3265678"/>
                    <a:pt x="271907" y="3265678"/>
                  </a:cubicBezTo>
                  <a:lnTo>
                    <a:pt x="10477500" y="3265678"/>
                  </a:lnTo>
                  <a:cubicBezTo>
                    <a:pt x="10599801" y="3265678"/>
                    <a:pt x="10698607" y="3167634"/>
                    <a:pt x="10698607" y="3047238"/>
                  </a:cubicBezTo>
                  <a:lnTo>
                    <a:pt x="10698607" y="269240"/>
                  </a:lnTo>
                  <a:cubicBezTo>
                    <a:pt x="10698607" y="148844"/>
                    <a:pt x="10599801" y="50800"/>
                    <a:pt x="10477500" y="50800"/>
                  </a:cubicBezTo>
                  <a:lnTo>
                    <a:pt x="271907" y="50800"/>
                  </a:lnTo>
                  <a:lnTo>
                    <a:pt x="271907" y="25400"/>
                  </a:lnTo>
                  <a:lnTo>
                    <a:pt x="271907" y="50800"/>
                  </a:lnTo>
                  <a:cubicBezTo>
                    <a:pt x="149479" y="50800"/>
                    <a:pt x="50800" y="148844"/>
                    <a:pt x="50800" y="269240"/>
                  </a:cubicBezTo>
                  <a:close/>
                </a:path>
              </a:pathLst>
            </a:custGeom>
            <a:solidFill>
              <a:srgbClr val="D4CEC3"/>
            </a:solidFill>
          </p:spPr>
        </p:sp>
      </p:grpSp>
      <p:grpSp>
        <p:nvGrpSpPr>
          <p:cNvPr name="Group 30" id="30"/>
          <p:cNvGrpSpPr/>
          <p:nvPr/>
        </p:nvGrpSpPr>
        <p:grpSpPr>
          <a:xfrm rot="0">
            <a:off x="9233745" y="6853685"/>
            <a:ext cx="152400" cy="2449268"/>
            <a:chOff x="0" y="0"/>
            <a:chExt cx="203200" cy="3265691"/>
          </a:xfrm>
        </p:grpSpPr>
        <p:sp>
          <p:nvSpPr>
            <p:cNvPr name="Freeform 31" id="31"/>
            <p:cNvSpPr/>
            <p:nvPr/>
          </p:nvSpPr>
          <p:spPr>
            <a:xfrm flipH="false" flipV="false" rot="0">
              <a:off x="0" y="0"/>
              <a:ext cx="203200" cy="3265678"/>
            </a:xfrm>
            <a:custGeom>
              <a:avLst/>
              <a:gdLst/>
              <a:ahLst/>
              <a:cxnLst/>
              <a:rect r="r" b="b" t="t" l="l"/>
              <a:pathLst>
                <a:path h="3265678" w="203200">
                  <a:moveTo>
                    <a:pt x="0" y="53848"/>
                  </a:moveTo>
                  <a:cubicBezTo>
                    <a:pt x="0" y="24130"/>
                    <a:pt x="24130" y="0"/>
                    <a:pt x="53848" y="0"/>
                  </a:cubicBezTo>
                  <a:lnTo>
                    <a:pt x="149352" y="0"/>
                  </a:lnTo>
                  <a:cubicBezTo>
                    <a:pt x="179070" y="0"/>
                    <a:pt x="203200" y="24130"/>
                    <a:pt x="203200" y="53848"/>
                  </a:cubicBezTo>
                  <a:lnTo>
                    <a:pt x="203200" y="3211830"/>
                  </a:lnTo>
                  <a:cubicBezTo>
                    <a:pt x="203200" y="3241548"/>
                    <a:pt x="179070" y="3265678"/>
                    <a:pt x="149352" y="3265678"/>
                  </a:cubicBezTo>
                  <a:lnTo>
                    <a:pt x="53848" y="3265678"/>
                  </a:lnTo>
                  <a:cubicBezTo>
                    <a:pt x="24130" y="3265678"/>
                    <a:pt x="0" y="3241548"/>
                    <a:pt x="0" y="3211830"/>
                  </a:cubicBezTo>
                  <a:close/>
                </a:path>
              </a:pathLst>
            </a:custGeom>
            <a:solidFill>
              <a:srgbClr val="BFA486"/>
            </a:solidFill>
          </p:spPr>
        </p:sp>
      </p:grpSp>
      <p:sp>
        <p:nvSpPr>
          <p:cNvPr name="Freeform 32" id="32"/>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3" id="33"/>
          <p:cNvSpPr/>
          <p:nvPr/>
        </p:nvSpPr>
        <p:spPr>
          <a:xfrm flipH="false" flipV="false" rot="0">
            <a:off x="-1766755" y="680123"/>
            <a:ext cx="3180626" cy="3180626"/>
          </a:xfrm>
          <a:custGeom>
            <a:avLst/>
            <a:gdLst/>
            <a:ahLst/>
            <a:cxnLst/>
            <a:rect r="r" b="b" t="t" l="l"/>
            <a:pathLst>
              <a:path h="3180626" w="3180626">
                <a:moveTo>
                  <a:pt x="0" y="0"/>
                </a:moveTo>
                <a:lnTo>
                  <a:pt x="3180627" y="0"/>
                </a:lnTo>
                <a:lnTo>
                  <a:pt x="3180627" y="3180626"/>
                </a:lnTo>
                <a:lnTo>
                  <a:pt x="0" y="31806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4" id="34"/>
          <p:cNvSpPr txBox="true"/>
          <p:nvPr/>
        </p:nvSpPr>
        <p:spPr>
          <a:xfrm rot="0">
            <a:off x="992238" y="1889970"/>
            <a:ext cx="3366935" cy="458838"/>
          </a:xfrm>
          <a:prstGeom prst="rect">
            <a:avLst/>
          </a:prstGeom>
        </p:spPr>
        <p:txBody>
          <a:bodyPr anchor="t" rtlCol="false" tIns="0" lIns="0" bIns="0" rIns="0">
            <a:spAutoFit/>
          </a:bodyPr>
          <a:lstStyle/>
          <a:p>
            <a:pPr algn="l">
              <a:lnSpc>
                <a:spcPts val="3312"/>
              </a:lnSpc>
            </a:pPr>
            <a:r>
              <a:rPr lang="en-US" sz="2625" b="true">
                <a:solidFill>
                  <a:srgbClr val="484237"/>
                </a:solidFill>
                <a:latin typeface="Arimo Bold"/>
                <a:ea typeface="Arimo Bold"/>
                <a:cs typeface="Arimo Bold"/>
                <a:sym typeface="Arimo Bold"/>
              </a:rPr>
              <a:t>Existing Tools</a:t>
            </a:r>
          </a:p>
        </p:txBody>
      </p:sp>
      <p:sp>
        <p:nvSpPr>
          <p:cNvPr name="TextBox 35" id="35"/>
          <p:cNvSpPr txBox="true"/>
          <p:nvPr/>
        </p:nvSpPr>
        <p:spPr>
          <a:xfrm rot="0">
            <a:off x="992238" y="2646912"/>
            <a:ext cx="16303523"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Duolingo, Rosetta Stone — designed for conversational modern languages</a:t>
            </a:r>
          </a:p>
        </p:txBody>
      </p:sp>
      <p:sp>
        <p:nvSpPr>
          <p:cNvPr name="TextBox 36" id="36"/>
          <p:cNvSpPr txBox="true"/>
          <p:nvPr/>
        </p:nvSpPr>
        <p:spPr>
          <a:xfrm rot="0">
            <a:off x="992238" y="3354886"/>
            <a:ext cx="16303523"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CAMeL Tools, Farasa, Anki — powerful but siloed and not integrated into a unified learning experience</a:t>
            </a:r>
          </a:p>
        </p:txBody>
      </p:sp>
      <p:sp>
        <p:nvSpPr>
          <p:cNvPr name="TextBox 37" id="37"/>
          <p:cNvSpPr txBox="true"/>
          <p:nvPr/>
        </p:nvSpPr>
        <p:spPr>
          <a:xfrm rot="0">
            <a:off x="1413872" y="4417809"/>
            <a:ext cx="3479902" cy="458838"/>
          </a:xfrm>
          <a:prstGeom prst="rect">
            <a:avLst/>
          </a:prstGeom>
        </p:spPr>
        <p:txBody>
          <a:bodyPr anchor="t" rtlCol="false" tIns="0" lIns="0" bIns="0" rIns="0">
            <a:spAutoFit/>
          </a:bodyPr>
          <a:lstStyle/>
          <a:p>
            <a:pPr algn="l">
              <a:lnSpc>
                <a:spcPts val="3312"/>
              </a:lnSpc>
            </a:pPr>
            <a:r>
              <a:rPr lang="en-US" sz="2625" b="true">
                <a:solidFill>
                  <a:srgbClr val="746558"/>
                </a:solidFill>
                <a:latin typeface="Arimo Bold"/>
                <a:ea typeface="Arimo Bold"/>
                <a:cs typeface="Arimo Bold"/>
                <a:sym typeface="Arimo Bold"/>
              </a:rPr>
              <a:t>Insufficient coverage</a:t>
            </a:r>
          </a:p>
        </p:txBody>
      </p:sp>
      <p:sp>
        <p:nvSpPr>
          <p:cNvPr name="TextBox 38" id="38"/>
          <p:cNvSpPr txBox="true"/>
          <p:nvPr/>
        </p:nvSpPr>
        <p:spPr>
          <a:xfrm rot="0">
            <a:off x="1413872" y="4944370"/>
            <a:ext cx="7294807" cy="1346149"/>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Classical and Quranic Arabic differ considerably from Modern Standard Arabic and are not supported by mainstream language-learning tools.</a:t>
            </a:r>
          </a:p>
        </p:txBody>
      </p:sp>
      <p:sp>
        <p:nvSpPr>
          <p:cNvPr name="TextBox 39" id="39"/>
          <p:cNvSpPr txBox="true"/>
          <p:nvPr/>
        </p:nvSpPr>
        <p:spPr>
          <a:xfrm rot="0">
            <a:off x="9693478" y="4417809"/>
            <a:ext cx="4435231" cy="458838"/>
          </a:xfrm>
          <a:prstGeom prst="rect">
            <a:avLst/>
          </a:prstGeom>
        </p:spPr>
        <p:txBody>
          <a:bodyPr anchor="t" rtlCol="false" tIns="0" lIns="0" bIns="0" rIns="0">
            <a:spAutoFit/>
          </a:bodyPr>
          <a:lstStyle/>
          <a:p>
            <a:pPr algn="l">
              <a:lnSpc>
                <a:spcPts val="3312"/>
              </a:lnSpc>
            </a:pPr>
            <a:r>
              <a:rPr lang="en-US" sz="2625" b="true">
                <a:solidFill>
                  <a:srgbClr val="746558"/>
                </a:solidFill>
                <a:latin typeface="Arimo Bold"/>
                <a:ea typeface="Arimo Bold"/>
                <a:cs typeface="Arimo Bold"/>
                <a:sym typeface="Arimo Bold"/>
              </a:rPr>
              <a:t>Global comprehension gap</a:t>
            </a:r>
          </a:p>
        </p:txBody>
      </p:sp>
      <p:sp>
        <p:nvSpPr>
          <p:cNvPr name="TextBox 40" id="40"/>
          <p:cNvSpPr txBox="true"/>
          <p:nvPr/>
        </p:nvSpPr>
        <p:spPr>
          <a:xfrm rot="0">
            <a:off x="9693478" y="4944370"/>
            <a:ext cx="7294959" cy="926011"/>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Over 1.8 billion Muslims worldwide lack access to tools that enable understanding of the Quran in its original language.</a:t>
            </a:r>
          </a:p>
        </p:txBody>
      </p:sp>
      <p:sp>
        <p:nvSpPr>
          <p:cNvPr name="TextBox 41" id="41"/>
          <p:cNvSpPr txBox="true"/>
          <p:nvPr/>
        </p:nvSpPr>
        <p:spPr>
          <a:xfrm rot="0">
            <a:off x="1413872" y="7122909"/>
            <a:ext cx="3366935" cy="458838"/>
          </a:xfrm>
          <a:prstGeom prst="rect">
            <a:avLst/>
          </a:prstGeom>
        </p:spPr>
        <p:txBody>
          <a:bodyPr anchor="t" rtlCol="false" tIns="0" lIns="0" bIns="0" rIns="0">
            <a:spAutoFit/>
          </a:bodyPr>
          <a:lstStyle/>
          <a:p>
            <a:pPr algn="l">
              <a:lnSpc>
                <a:spcPts val="3312"/>
              </a:lnSpc>
            </a:pPr>
            <a:r>
              <a:rPr lang="en-US" sz="2625" b="true">
                <a:solidFill>
                  <a:srgbClr val="746558"/>
                </a:solidFill>
                <a:latin typeface="Arimo Bold"/>
                <a:ea typeface="Arimo Bold"/>
                <a:cs typeface="Arimo Bold"/>
                <a:sym typeface="Arimo Bold"/>
              </a:rPr>
              <a:t>Tool mismatch</a:t>
            </a:r>
          </a:p>
        </p:txBody>
      </p:sp>
      <p:sp>
        <p:nvSpPr>
          <p:cNvPr name="TextBox 42" id="42"/>
          <p:cNvSpPr txBox="true"/>
          <p:nvPr/>
        </p:nvSpPr>
        <p:spPr>
          <a:xfrm rot="0">
            <a:off x="1413872" y="7649470"/>
            <a:ext cx="7294807" cy="1346149"/>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Platforms such as Duolingo and Rosetta Stone target conversational modern languages and do not address Quranic grammar depth (sarf, nahw).</a:t>
            </a:r>
          </a:p>
        </p:txBody>
      </p:sp>
      <p:sp>
        <p:nvSpPr>
          <p:cNvPr name="TextBox 43" id="43"/>
          <p:cNvSpPr txBox="true"/>
          <p:nvPr/>
        </p:nvSpPr>
        <p:spPr>
          <a:xfrm rot="0">
            <a:off x="9693478" y="7122909"/>
            <a:ext cx="4001843" cy="458838"/>
          </a:xfrm>
          <a:prstGeom prst="rect">
            <a:avLst/>
          </a:prstGeom>
        </p:spPr>
        <p:txBody>
          <a:bodyPr anchor="t" rtlCol="false" tIns="0" lIns="0" bIns="0" rIns="0">
            <a:spAutoFit/>
          </a:bodyPr>
          <a:lstStyle/>
          <a:p>
            <a:pPr algn="l">
              <a:lnSpc>
                <a:spcPts val="3312"/>
              </a:lnSpc>
            </a:pPr>
            <a:r>
              <a:rPr lang="en-US" sz="2625" b="true">
                <a:solidFill>
                  <a:srgbClr val="746558"/>
                </a:solidFill>
                <a:latin typeface="Arimo Bold"/>
                <a:ea typeface="Arimo Bold"/>
                <a:cs typeface="Arimo Bold"/>
                <a:sym typeface="Arimo Bold"/>
              </a:rPr>
              <a:t>Fragmented capabilities</a:t>
            </a:r>
          </a:p>
        </p:txBody>
      </p:sp>
      <p:sp>
        <p:nvSpPr>
          <p:cNvPr name="TextBox 44" id="44"/>
          <p:cNvSpPr txBox="true"/>
          <p:nvPr/>
        </p:nvSpPr>
        <p:spPr>
          <a:xfrm rot="0">
            <a:off x="9693478" y="7649470"/>
            <a:ext cx="7294959" cy="1346149"/>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No single platform currently unifies NLP morphological analysis, syntactic parsing, AI tutoring and spaced repetition into one cohesive Quranic learning experience.</a:t>
            </a:r>
          </a:p>
        </p:txBody>
      </p:sp>
      <p:grpSp>
        <p:nvGrpSpPr>
          <p:cNvPr name="Group 45" id="45"/>
          <p:cNvGrpSpPr/>
          <p:nvPr/>
        </p:nvGrpSpPr>
        <p:grpSpPr>
          <a:xfrm rot="0">
            <a:off x="596798" y="645607"/>
            <a:ext cx="5979772" cy="2087030"/>
            <a:chOff x="0" y="0"/>
            <a:chExt cx="7973029" cy="2782707"/>
          </a:xfrm>
        </p:grpSpPr>
        <p:sp>
          <p:nvSpPr>
            <p:cNvPr name="TextBox 46" id="46"/>
            <p:cNvSpPr txBox="true"/>
            <p:nvPr/>
          </p:nvSpPr>
          <p:spPr>
            <a:xfrm rot="0">
              <a:off x="0" y="66675"/>
              <a:ext cx="7973029" cy="1579038"/>
            </a:xfrm>
            <a:prstGeom prst="rect">
              <a:avLst/>
            </a:prstGeom>
          </p:spPr>
          <p:txBody>
            <a:bodyPr anchor="t" rtlCol="false" tIns="0" lIns="0" bIns="0" rIns="0">
              <a:spAutoFit/>
            </a:bodyPr>
            <a:lstStyle/>
            <a:p>
              <a:pPr algn="ctr">
                <a:lnSpc>
                  <a:spcPts val="8938"/>
                </a:lnSpc>
              </a:pPr>
              <a:r>
                <a:rPr lang="en-US" sz="8125" spc="203">
                  <a:solidFill>
                    <a:srgbClr val="484237"/>
                  </a:solidFill>
                  <a:latin typeface="Forum"/>
                  <a:ea typeface="Forum"/>
                  <a:cs typeface="Forum"/>
                  <a:sym typeface="Forum"/>
                </a:rPr>
                <a:t>The Problem</a:t>
              </a:r>
            </a:p>
          </p:txBody>
        </p:sp>
        <p:sp>
          <p:nvSpPr>
            <p:cNvPr name="TextBox 47" id="47"/>
            <p:cNvSpPr txBox="true"/>
            <p:nvPr/>
          </p:nvSpPr>
          <p:spPr>
            <a:xfrm rot="0">
              <a:off x="293860" y="2472035"/>
              <a:ext cx="3751213" cy="310672"/>
            </a:xfrm>
            <a:prstGeom prst="rect">
              <a:avLst/>
            </a:prstGeom>
          </p:spPr>
          <p:txBody>
            <a:bodyPr anchor="t" rtlCol="false" tIns="0" lIns="0" bIns="0" rIns="0">
              <a:spAutoFit/>
            </a:bodyPr>
            <a:lstStyle/>
            <a:p>
              <a:pPr algn="ctr">
                <a:lnSpc>
                  <a:spcPts val="192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525"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grpSp>
        <p:nvGrpSpPr>
          <p:cNvPr name="Group 12" id="12"/>
          <p:cNvGrpSpPr/>
          <p:nvPr/>
        </p:nvGrpSpPr>
        <p:grpSpPr>
          <a:xfrm rot="0">
            <a:off x="828753" y="4295463"/>
            <a:ext cx="4966172" cy="4950569"/>
            <a:chOff x="0" y="0"/>
            <a:chExt cx="16527988" cy="16476060"/>
          </a:xfrm>
        </p:grpSpPr>
        <p:sp>
          <p:nvSpPr>
            <p:cNvPr name="Freeform 13" id="13"/>
            <p:cNvSpPr/>
            <p:nvPr/>
          </p:nvSpPr>
          <p:spPr>
            <a:xfrm flipH="false" flipV="false" rot="0">
              <a:off x="39055" y="126185"/>
              <a:ext cx="16449858" cy="16223628"/>
            </a:xfrm>
            <a:custGeom>
              <a:avLst/>
              <a:gdLst/>
              <a:ahLst/>
              <a:cxnLst/>
              <a:rect r="r" b="b" t="t" l="l"/>
              <a:pathLst>
                <a:path h="16223628" w="16449858">
                  <a:moveTo>
                    <a:pt x="0" y="1211378"/>
                  </a:moveTo>
                  <a:cubicBezTo>
                    <a:pt x="0" y="542596"/>
                    <a:pt x="169695" y="0"/>
                    <a:pt x="379031" y="0"/>
                  </a:cubicBezTo>
                  <a:lnTo>
                    <a:pt x="16070827" y="0"/>
                  </a:lnTo>
                  <a:cubicBezTo>
                    <a:pt x="16280163" y="0"/>
                    <a:pt x="16449858" y="542596"/>
                    <a:pt x="16449858" y="1211378"/>
                  </a:cubicBezTo>
                  <a:lnTo>
                    <a:pt x="16449858" y="15012249"/>
                  </a:lnTo>
                  <a:cubicBezTo>
                    <a:pt x="16449858" y="15681032"/>
                    <a:pt x="16280163" y="16223628"/>
                    <a:pt x="16070827" y="16223628"/>
                  </a:cubicBezTo>
                  <a:lnTo>
                    <a:pt x="379031" y="16223628"/>
                  </a:lnTo>
                  <a:cubicBezTo>
                    <a:pt x="169695" y="16223628"/>
                    <a:pt x="0" y="15681032"/>
                    <a:pt x="0" y="15012249"/>
                  </a:cubicBezTo>
                  <a:close/>
                </a:path>
              </a:pathLst>
            </a:custGeom>
            <a:solidFill>
              <a:srgbClr val="F9F6F0"/>
            </a:solidFill>
          </p:spPr>
        </p:sp>
        <p:sp>
          <p:nvSpPr>
            <p:cNvPr name="Freeform 14" id="14"/>
            <p:cNvSpPr/>
            <p:nvPr/>
          </p:nvSpPr>
          <p:spPr>
            <a:xfrm flipH="false" flipV="false" rot="0">
              <a:off x="0" y="0"/>
              <a:ext cx="16527968" cy="16475997"/>
            </a:xfrm>
            <a:custGeom>
              <a:avLst/>
              <a:gdLst/>
              <a:ahLst/>
              <a:cxnLst/>
              <a:rect r="r" b="b" t="t" l="l"/>
              <a:pathLst>
                <a:path h="16475997" w="16527968">
                  <a:moveTo>
                    <a:pt x="0" y="1337563"/>
                  </a:moveTo>
                  <a:cubicBezTo>
                    <a:pt x="0" y="597487"/>
                    <a:pt x="187465" y="0"/>
                    <a:pt x="418086" y="0"/>
                  </a:cubicBezTo>
                  <a:lnTo>
                    <a:pt x="16109882" y="0"/>
                  </a:lnTo>
                  <a:lnTo>
                    <a:pt x="16109882" y="126185"/>
                  </a:lnTo>
                  <a:lnTo>
                    <a:pt x="16109882" y="0"/>
                  </a:lnTo>
                  <a:cubicBezTo>
                    <a:pt x="16340308" y="0"/>
                    <a:pt x="16527968" y="597487"/>
                    <a:pt x="16527968" y="1337563"/>
                  </a:cubicBezTo>
                  <a:lnTo>
                    <a:pt x="16488913" y="1337563"/>
                  </a:lnTo>
                  <a:lnTo>
                    <a:pt x="16527968" y="1337563"/>
                  </a:lnTo>
                  <a:lnTo>
                    <a:pt x="16527968" y="15138434"/>
                  </a:lnTo>
                  <a:lnTo>
                    <a:pt x="16488913" y="15138434"/>
                  </a:lnTo>
                  <a:lnTo>
                    <a:pt x="16527968" y="15138434"/>
                  </a:lnTo>
                  <a:cubicBezTo>
                    <a:pt x="16527968" y="15878510"/>
                    <a:pt x="16340503" y="16475997"/>
                    <a:pt x="16109882" y="16475997"/>
                  </a:cubicBezTo>
                  <a:lnTo>
                    <a:pt x="16109882" y="16349813"/>
                  </a:lnTo>
                  <a:lnTo>
                    <a:pt x="16109882" y="16475997"/>
                  </a:lnTo>
                  <a:lnTo>
                    <a:pt x="418086" y="16475997"/>
                  </a:lnTo>
                  <a:lnTo>
                    <a:pt x="418086" y="16349813"/>
                  </a:lnTo>
                  <a:lnTo>
                    <a:pt x="418086" y="16475997"/>
                  </a:lnTo>
                  <a:cubicBezTo>
                    <a:pt x="187465" y="16475997"/>
                    <a:pt x="0" y="15878510"/>
                    <a:pt x="0" y="15138434"/>
                  </a:cubicBezTo>
                  <a:lnTo>
                    <a:pt x="0" y="1337563"/>
                  </a:lnTo>
                  <a:lnTo>
                    <a:pt x="39055" y="1337563"/>
                  </a:lnTo>
                  <a:lnTo>
                    <a:pt x="0" y="1337563"/>
                  </a:lnTo>
                  <a:moveTo>
                    <a:pt x="78110" y="1337563"/>
                  </a:moveTo>
                  <a:lnTo>
                    <a:pt x="78110" y="15138434"/>
                  </a:lnTo>
                  <a:lnTo>
                    <a:pt x="39055" y="15138434"/>
                  </a:lnTo>
                  <a:lnTo>
                    <a:pt x="78110" y="15138434"/>
                  </a:lnTo>
                  <a:cubicBezTo>
                    <a:pt x="78110" y="15736551"/>
                    <a:pt x="229840" y="16223627"/>
                    <a:pt x="418086" y="16223627"/>
                  </a:cubicBezTo>
                  <a:lnTo>
                    <a:pt x="16109882" y="16223627"/>
                  </a:lnTo>
                  <a:cubicBezTo>
                    <a:pt x="16297934" y="16223627"/>
                    <a:pt x="16449858" y="15736551"/>
                    <a:pt x="16449858" y="15138434"/>
                  </a:cubicBezTo>
                  <a:lnTo>
                    <a:pt x="16449858" y="1337563"/>
                  </a:lnTo>
                  <a:cubicBezTo>
                    <a:pt x="16449858" y="739445"/>
                    <a:pt x="16298129" y="252370"/>
                    <a:pt x="16109882" y="252370"/>
                  </a:cubicBezTo>
                  <a:lnTo>
                    <a:pt x="418086" y="252370"/>
                  </a:lnTo>
                  <a:lnTo>
                    <a:pt x="418086" y="126185"/>
                  </a:lnTo>
                  <a:lnTo>
                    <a:pt x="418086" y="252370"/>
                  </a:lnTo>
                  <a:cubicBezTo>
                    <a:pt x="229840" y="252370"/>
                    <a:pt x="78110" y="739445"/>
                    <a:pt x="78110" y="1337563"/>
                  </a:cubicBezTo>
                  <a:close/>
                </a:path>
              </a:pathLst>
            </a:custGeom>
            <a:solidFill>
              <a:srgbClr val="D4CEC3"/>
            </a:solidFill>
          </p:spPr>
        </p:sp>
      </p:grpSp>
      <p:grpSp>
        <p:nvGrpSpPr>
          <p:cNvPr name="Group 15" id="15"/>
          <p:cNvGrpSpPr/>
          <p:nvPr/>
        </p:nvGrpSpPr>
        <p:grpSpPr>
          <a:xfrm rot="5400000">
            <a:off x="3244077" y="1822903"/>
            <a:ext cx="135523" cy="4966172"/>
            <a:chOff x="0" y="0"/>
            <a:chExt cx="56029" cy="2053148"/>
          </a:xfrm>
        </p:grpSpPr>
        <p:sp>
          <p:nvSpPr>
            <p:cNvPr name="Freeform 16" id="16"/>
            <p:cNvSpPr/>
            <p:nvPr/>
          </p:nvSpPr>
          <p:spPr>
            <a:xfrm flipH="false" flipV="false" rot="0">
              <a:off x="0" y="0"/>
              <a:ext cx="56029" cy="2053140"/>
            </a:xfrm>
            <a:custGeom>
              <a:avLst/>
              <a:gdLst/>
              <a:ahLst/>
              <a:cxnLst/>
              <a:rect r="r" b="b" t="t" l="l"/>
              <a:pathLst>
                <a:path h="2053140" w="56029">
                  <a:moveTo>
                    <a:pt x="0" y="33854"/>
                  </a:moveTo>
                  <a:cubicBezTo>
                    <a:pt x="0" y="15171"/>
                    <a:pt x="6653" y="0"/>
                    <a:pt x="14848" y="0"/>
                  </a:cubicBezTo>
                  <a:lnTo>
                    <a:pt x="41181" y="0"/>
                  </a:lnTo>
                  <a:cubicBezTo>
                    <a:pt x="49375" y="0"/>
                    <a:pt x="56029" y="15171"/>
                    <a:pt x="56029" y="33854"/>
                  </a:cubicBezTo>
                  <a:lnTo>
                    <a:pt x="56029" y="2019285"/>
                  </a:lnTo>
                  <a:cubicBezTo>
                    <a:pt x="56029" y="2037969"/>
                    <a:pt x="49375" y="2053140"/>
                    <a:pt x="41181" y="2053140"/>
                  </a:cubicBezTo>
                  <a:lnTo>
                    <a:pt x="14848" y="2053140"/>
                  </a:lnTo>
                  <a:cubicBezTo>
                    <a:pt x="6653" y="2053140"/>
                    <a:pt x="0" y="2037969"/>
                    <a:pt x="0" y="2019285"/>
                  </a:cubicBezTo>
                  <a:close/>
                </a:path>
              </a:pathLst>
            </a:custGeom>
            <a:solidFill>
              <a:srgbClr val="BFA486"/>
            </a:solidFill>
          </p:spPr>
        </p:sp>
      </p:grpSp>
      <p:sp>
        <p:nvSpPr>
          <p:cNvPr name="Freeform 17" id="17"/>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8" id="18"/>
          <p:cNvGrpSpPr/>
          <p:nvPr/>
        </p:nvGrpSpPr>
        <p:grpSpPr>
          <a:xfrm rot="0">
            <a:off x="12159473" y="4305990"/>
            <a:ext cx="4966172" cy="4940043"/>
            <a:chOff x="0" y="0"/>
            <a:chExt cx="16527988" cy="16441026"/>
          </a:xfrm>
        </p:grpSpPr>
        <p:sp>
          <p:nvSpPr>
            <p:cNvPr name="Freeform 19" id="19"/>
            <p:cNvSpPr/>
            <p:nvPr/>
          </p:nvSpPr>
          <p:spPr>
            <a:xfrm flipH="false" flipV="false" rot="0">
              <a:off x="39055" y="125917"/>
              <a:ext cx="16449858" cy="16189129"/>
            </a:xfrm>
            <a:custGeom>
              <a:avLst/>
              <a:gdLst/>
              <a:ahLst/>
              <a:cxnLst/>
              <a:rect r="r" b="b" t="t" l="l"/>
              <a:pathLst>
                <a:path h="16189129" w="16449858">
                  <a:moveTo>
                    <a:pt x="0" y="1208802"/>
                  </a:moveTo>
                  <a:cubicBezTo>
                    <a:pt x="0" y="541442"/>
                    <a:pt x="169695" y="0"/>
                    <a:pt x="379031" y="0"/>
                  </a:cubicBezTo>
                  <a:lnTo>
                    <a:pt x="16070827" y="0"/>
                  </a:lnTo>
                  <a:cubicBezTo>
                    <a:pt x="16280163" y="0"/>
                    <a:pt x="16449858" y="541442"/>
                    <a:pt x="16449858" y="1208802"/>
                  </a:cubicBezTo>
                  <a:lnTo>
                    <a:pt x="16449858" y="14980327"/>
                  </a:lnTo>
                  <a:cubicBezTo>
                    <a:pt x="16449858" y="15647686"/>
                    <a:pt x="16280163" y="16189129"/>
                    <a:pt x="16070827" y="16189129"/>
                  </a:cubicBezTo>
                  <a:lnTo>
                    <a:pt x="379031" y="16189129"/>
                  </a:lnTo>
                  <a:cubicBezTo>
                    <a:pt x="169695" y="16189129"/>
                    <a:pt x="0" y="15647686"/>
                    <a:pt x="0" y="14980327"/>
                  </a:cubicBezTo>
                  <a:close/>
                </a:path>
              </a:pathLst>
            </a:custGeom>
            <a:solidFill>
              <a:srgbClr val="F9F6F0"/>
            </a:solidFill>
          </p:spPr>
        </p:sp>
        <p:sp>
          <p:nvSpPr>
            <p:cNvPr name="Freeform 20" id="20"/>
            <p:cNvSpPr/>
            <p:nvPr/>
          </p:nvSpPr>
          <p:spPr>
            <a:xfrm flipH="false" flipV="false" rot="0">
              <a:off x="0" y="0"/>
              <a:ext cx="16527968" cy="16440964"/>
            </a:xfrm>
            <a:custGeom>
              <a:avLst/>
              <a:gdLst/>
              <a:ahLst/>
              <a:cxnLst/>
              <a:rect r="r" b="b" t="t" l="l"/>
              <a:pathLst>
                <a:path h="16440964" w="16527968">
                  <a:moveTo>
                    <a:pt x="0" y="1334719"/>
                  </a:moveTo>
                  <a:cubicBezTo>
                    <a:pt x="0" y="596216"/>
                    <a:pt x="187465" y="0"/>
                    <a:pt x="418086" y="0"/>
                  </a:cubicBezTo>
                  <a:lnTo>
                    <a:pt x="16109882" y="0"/>
                  </a:lnTo>
                  <a:lnTo>
                    <a:pt x="16109882" y="125917"/>
                  </a:lnTo>
                  <a:lnTo>
                    <a:pt x="16109882" y="0"/>
                  </a:lnTo>
                  <a:cubicBezTo>
                    <a:pt x="16340308" y="0"/>
                    <a:pt x="16527968" y="596216"/>
                    <a:pt x="16527968" y="1334719"/>
                  </a:cubicBezTo>
                  <a:lnTo>
                    <a:pt x="16488913" y="1334719"/>
                  </a:lnTo>
                  <a:lnTo>
                    <a:pt x="16527968" y="1334719"/>
                  </a:lnTo>
                  <a:lnTo>
                    <a:pt x="16527968" y="15106244"/>
                  </a:lnTo>
                  <a:lnTo>
                    <a:pt x="16488913" y="15106244"/>
                  </a:lnTo>
                  <a:lnTo>
                    <a:pt x="16527968" y="15106244"/>
                  </a:lnTo>
                  <a:cubicBezTo>
                    <a:pt x="16527968" y="15844746"/>
                    <a:pt x="16340503" y="16440964"/>
                    <a:pt x="16109882" y="16440964"/>
                  </a:cubicBezTo>
                  <a:lnTo>
                    <a:pt x="16109882" y="16315046"/>
                  </a:lnTo>
                  <a:lnTo>
                    <a:pt x="16109882" y="16440964"/>
                  </a:lnTo>
                  <a:lnTo>
                    <a:pt x="418086" y="16440964"/>
                  </a:lnTo>
                  <a:lnTo>
                    <a:pt x="418086" y="16315046"/>
                  </a:lnTo>
                  <a:lnTo>
                    <a:pt x="418086" y="16440964"/>
                  </a:lnTo>
                  <a:cubicBezTo>
                    <a:pt x="187465" y="16440964"/>
                    <a:pt x="0" y="15844746"/>
                    <a:pt x="0" y="15106244"/>
                  </a:cubicBezTo>
                  <a:lnTo>
                    <a:pt x="0" y="1334719"/>
                  </a:lnTo>
                  <a:lnTo>
                    <a:pt x="39055" y="1334719"/>
                  </a:lnTo>
                  <a:lnTo>
                    <a:pt x="0" y="1334719"/>
                  </a:lnTo>
                  <a:moveTo>
                    <a:pt x="78110" y="1334719"/>
                  </a:moveTo>
                  <a:lnTo>
                    <a:pt x="78110" y="15106244"/>
                  </a:lnTo>
                  <a:lnTo>
                    <a:pt x="39055" y="15106244"/>
                  </a:lnTo>
                  <a:lnTo>
                    <a:pt x="78110" y="15106244"/>
                  </a:lnTo>
                  <a:cubicBezTo>
                    <a:pt x="78110" y="15703090"/>
                    <a:pt x="229840" y="16189130"/>
                    <a:pt x="418086" y="16189130"/>
                  </a:cubicBezTo>
                  <a:lnTo>
                    <a:pt x="16109882" y="16189130"/>
                  </a:lnTo>
                  <a:cubicBezTo>
                    <a:pt x="16297934" y="16189130"/>
                    <a:pt x="16449858" y="15703090"/>
                    <a:pt x="16449858" y="15106244"/>
                  </a:cubicBezTo>
                  <a:lnTo>
                    <a:pt x="16449858" y="1334719"/>
                  </a:lnTo>
                  <a:cubicBezTo>
                    <a:pt x="16449858" y="737873"/>
                    <a:pt x="16298129" y="251834"/>
                    <a:pt x="16109882" y="251834"/>
                  </a:cubicBezTo>
                  <a:lnTo>
                    <a:pt x="418086" y="251834"/>
                  </a:lnTo>
                  <a:lnTo>
                    <a:pt x="418086" y="125917"/>
                  </a:lnTo>
                  <a:lnTo>
                    <a:pt x="418086" y="251834"/>
                  </a:lnTo>
                  <a:cubicBezTo>
                    <a:pt x="229840" y="251834"/>
                    <a:pt x="78110" y="737873"/>
                    <a:pt x="78110" y="1334719"/>
                  </a:cubicBezTo>
                  <a:close/>
                </a:path>
              </a:pathLst>
            </a:custGeom>
            <a:solidFill>
              <a:srgbClr val="D4CEC3"/>
            </a:solidFill>
          </p:spPr>
        </p:sp>
      </p:grpSp>
      <p:grpSp>
        <p:nvGrpSpPr>
          <p:cNvPr name="Group 21" id="21"/>
          <p:cNvGrpSpPr/>
          <p:nvPr/>
        </p:nvGrpSpPr>
        <p:grpSpPr>
          <a:xfrm rot="0">
            <a:off x="6494113" y="4373751"/>
            <a:ext cx="4966172" cy="4872281"/>
            <a:chOff x="0" y="0"/>
            <a:chExt cx="16527988" cy="16215508"/>
          </a:xfrm>
        </p:grpSpPr>
        <p:sp>
          <p:nvSpPr>
            <p:cNvPr name="Freeform 22" id="22"/>
            <p:cNvSpPr/>
            <p:nvPr/>
          </p:nvSpPr>
          <p:spPr>
            <a:xfrm flipH="false" flipV="false" rot="0">
              <a:off x="39055" y="124190"/>
              <a:ext cx="16449858" cy="15967067"/>
            </a:xfrm>
            <a:custGeom>
              <a:avLst/>
              <a:gdLst/>
              <a:ahLst/>
              <a:cxnLst/>
              <a:rect r="r" b="b" t="t" l="l"/>
              <a:pathLst>
                <a:path h="15967067" w="16449858">
                  <a:moveTo>
                    <a:pt x="0" y="1192221"/>
                  </a:moveTo>
                  <a:cubicBezTo>
                    <a:pt x="0" y="534015"/>
                    <a:pt x="169695" y="0"/>
                    <a:pt x="379031" y="0"/>
                  </a:cubicBezTo>
                  <a:lnTo>
                    <a:pt x="16070827" y="0"/>
                  </a:lnTo>
                  <a:cubicBezTo>
                    <a:pt x="16280163" y="0"/>
                    <a:pt x="16449858" y="534015"/>
                    <a:pt x="16449858" y="1192221"/>
                  </a:cubicBezTo>
                  <a:lnTo>
                    <a:pt x="16449858" y="14774845"/>
                  </a:lnTo>
                  <a:cubicBezTo>
                    <a:pt x="16449858" y="15433051"/>
                    <a:pt x="16280163" y="15967067"/>
                    <a:pt x="16070827" y="15967067"/>
                  </a:cubicBezTo>
                  <a:lnTo>
                    <a:pt x="379031" y="15967067"/>
                  </a:lnTo>
                  <a:cubicBezTo>
                    <a:pt x="169695" y="15967067"/>
                    <a:pt x="0" y="15433051"/>
                    <a:pt x="0" y="14774845"/>
                  </a:cubicBezTo>
                  <a:close/>
                </a:path>
              </a:pathLst>
            </a:custGeom>
            <a:solidFill>
              <a:srgbClr val="F9F6F0"/>
            </a:solidFill>
          </p:spPr>
        </p:sp>
        <p:sp>
          <p:nvSpPr>
            <p:cNvPr name="Freeform 23" id="23"/>
            <p:cNvSpPr/>
            <p:nvPr/>
          </p:nvSpPr>
          <p:spPr>
            <a:xfrm flipH="false" flipV="false" rot="0">
              <a:off x="0" y="0"/>
              <a:ext cx="16527968" cy="16215446"/>
            </a:xfrm>
            <a:custGeom>
              <a:avLst/>
              <a:gdLst/>
              <a:ahLst/>
              <a:cxnLst/>
              <a:rect r="r" b="b" t="t" l="l"/>
              <a:pathLst>
                <a:path h="16215446" w="16527968">
                  <a:moveTo>
                    <a:pt x="0" y="1316411"/>
                  </a:moveTo>
                  <a:cubicBezTo>
                    <a:pt x="0" y="588038"/>
                    <a:pt x="187465" y="0"/>
                    <a:pt x="418086" y="0"/>
                  </a:cubicBezTo>
                  <a:lnTo>
                    <a:pt x="16109882" y="0"/>
                  </a:lnTo>
                  <a:lnTo>
                    <a:pt x="16109882" y="124190"/>
                  </a:lnTo>
                  <a:lnTo>
                    <a:pt x="16109882" y="0"/>
                  </a:lnTo>
                  <a:cubicBezTo>
                    <a:pt x="16340308" y="0"/>
                    <a:pt x="16527968" y="588038"/>
                    <a:pt x="16527968" y="1316411"/>
                  </a:cubicBezTo>
                  <a:lnTo>
                    <a:pt x="16488913" y="1316411"/>
                  </a:lnTo>
                  <a:lnTo>
                    <a:pt x="16527968" y="1316411"/>
                  </a:lnTo>
                  <a:lnTo>
                    <a:pt x="16527968" y="14899035"/>
                  </a:lnTo>
                  <a:lnTo>
                    <a:pt x="16488913" y="14899035"/>
                  </a:lnTo>
                  <a:lnTo>
                    <a:pt x="16527968" y="14899035"/>
                  </a:lnTo>
                  <a:cubicBezTo>
                    <a:pt x="16527968" y="15627407"/>
                    <a:pt x="16340503" y="16215446"/>
                    <a:pt x="16109882" y="16215446"/>
                  </a:cubicBezTo>
                  <a:lnTo>
                    <a:pt x="16109882" y="16091257"/>
                  </a:lnTo>
                  <a:lnTo>
                    <a:pt x="16109882" y="16215446"/>
                  </a:lnTo>
                  <a:lnTo>
                    <a:pt x="418086" y="16215446"/>
                  </a:lnTo>
                  <a:lnTo>
                    <a:pt x="418086" y="16091257"/>
                  </a:lnTo>
                  <a:lnTo>
                    <a:pt x="418086" y="16215446"/>
                  </a:lnTo>
                  <a:cubicBezTo>
                    <a:pt x="187465" y="16215446"/>
                    <a:pt x="0" y="15627407"/>
                    <a:pt x="0" y="14899035"/>
                  </a:cubicBezTo>
                  <a:lnTo>
                    <a:pt x="0" y="1316411"/>
                  </a:lnTo>
                  <a:lnTo>
                    <a:pt x="39055" y="1316411"/>
                  </a:lnTo>
                  <a:lnTo>
                    <a:pt x="0" y="1316411"/>
                  </a:lnTo>
                  <a:moveTo>
                    <a:pt x="78110" y="1316411"/>
                  </a:moveTo>
                  <a:lnTo>
                    <a:pt x="78110" y="14899035"/>
                  </a:lnTo>
                  <a:lnTo>
                    <a:pt x="39055" y="14899035"/>
                  </a:lnTo>
                  <a:lnTo>
                    <a:pt x="78110" y="14899035"/>
                  </a:lnTo>
                  <a:cubicBezTo>
                    <a:pt x="78110" y="15487693"/>
                    <a:pt x="229840" y="15967067"/>
                    <a:pt x="418086" y="15967067"/>
                  </a:cubicBezTo>
                  <a:lnTo>
                    <a:pt x="16109882" y="15967067"/>
                  </a:lnTo>
                  <a:cubicBezTo>
                    <a:pt x="16297934" y="15967067"/>
                    <a:pt x="16449858" y="15487693"/>
                    <a:pt x="16449858" y="14899035"/>
                  </a:cubicBezTo>
                  <a:lnTo>
                    <a:pt x="16449858" y="1316411"/>
                  </a:lnTo>
                  <a:cubicBezTo>
                    <a:pt x="16449858" y="727752"/>
                    <a:pt x="16298129" y="248379"/>
                    <a:pt x="16109882" y="248379"/>
                  </a:cubicBezTo>
                  <a:lnTo>
                    <a:pt x="418086" y="248379"/>
                  </a:lnTo>
                  <a:lnTo>
                    <a:pt x="418086" y="124190"/>
                  </a:lnTo>
                  <a:lnTo>
                    <a:pt x="418086" y="248379"/>
                  </a:lnTo>
                  <a:cubicBezTo>
                    <a:pt x="229840" y="248379"/>
                    <a:pt x="78110" y="727752"/>
                    <a:pt x="78110" y="1316411"/>
                  </a:cubicBezTo>
                  <a:close/>
                </a:path>
              </a:pathLst>
            </a:custGeom>
            <a:solidFill>
              <a:srgbClr val="D4CEC3"/>
            </a:solidFill>
          </p:spPr>
        </p:sp>
      </p:grpSp>
      <p:grpSp>
        <p:nvGrpSpPr>
          <p:cNvPr name="Group 24" id="24"/>
          <p:cNvGrpSpPr/>
          <p:nvPr/>
        </p:nvGrpSpPr>
        <p:grpSpPr>
          <a:xfrm rot="5400000">
            <a:off x="14582113" y="1880138"/>
            <a:ext cx="135523" cy="4966172"/>
            <a:chOff x="0" y="0"/>
            <a:chExt cx="56029" cy="2053148"/>
          </a:xfrm>
        </p:grpSpPr>
        <p:sp>
          <p:nvSpPr>
            <p:cNvPr name="Freeform 25" id="25"/>
            <p:cNvSpPr/>
            <p:nvPr/>
          </p:nvSpPr>
          <p:spPr>
            <a:xfrm flipH="false" flipV="false" rot="0">
              <a:off x="0" y="0"/>
              <a:ext cx="56029" cy="2053140"/>
            </a:xfrm>
            <a:custGeom>
              <a:avLst/>
              <a:gdLst/>
              <a:ahLst/>
              <a:cxnLst/>
              <a:rect r="r" b="b" t="t" l="l"/>
              <a:pathLst>
                <a:path h="2053140" w="56029">
                  <a:moveTo>
                    <a:pt x="0" y="33854"/>
                  </a:moveTo>
                  <a:cubicBezTo>
                    <a:pt x="0" y="15171"/>
                    <a:pt x="6653" y="0"/>
                    <a:pt x="14848" y="0"/>
                  </a:cubicBezTo>
                  <a:lnTo>
                    <a:pt x="41181" y="0"/>
                  </a:lnTo>
                  <a:cubicBezTo>
                    <a:pt x="49375" y="0"/>
                    <a:pt x="56029" y="15171"/>
                    <a:pt x="56029" y="33854"/>
                  </a:cubicBezTo>
                  <a:lnTo>
                    <a:pt x="56029" y="2019285"/>
                  </a:lnTo>
                  <a:cubicBezTo>
                    <a:pt x="56029" y="2037969"/>
                    <a:pt x="49375" y="2053140"/>
                    <a:pt x="41181" y="2053140"/>
                  </a:cubicBezTo>
                  <a:lnTo>
                    <a:pt x="14848" y="2053140"/>
                  </a:lnTo>
                  <a:cubicBezTo>
                    <a:pt x="6653" y="2053140"/>
                    <a:pt x="0" y="2037969"/>
                    <a:pt x="0" y="2019285"/>
                  </a:cubicBezTo>
                  <a:close/>
                </a:path>
              </a:pathLst>
            </a:custGeom>
            <a:solidFill>
              <a:srgbClr val="BFA486"/>
            </a:solidFill>
          </p:spPr>
        </p:sp>
      </p:grpSp>
      <p:grpSp>
        <p:nvGrpSpPr>
          <p:cNvPr name="Group 26" id="26"/>
          <p:cNvGrpSpPr/>
          <p:nvPr/>
        </p:nvGrpSpPr>
        <p:grpSpPr>
          <a:xfrm rot="5400000">
            <a:off x="8909437" y="1880138"/>
            <a:ext cx="135523" cy="4966172"/>
            <a:chOff x="0" y="0"/>
            <a:chExt cx="56029" cy="2053148"/>
          </a:xfrm>
        </p:grpSpPr>
        <p:sp>
          <p:nvSpPr>
            <p:cNvPr name="Freeform 27" id="27"/>
            <p:cNvSpPr/>
            <p:nvPr/>
          </p:nvSpPr>
          <p:spPr>
            <a:xfrm flipH="false" flipV="false" rot="0">
              <a:off x="0" y="0"/>
              <a:ext cx="56029" cy="2053140"/>
            </a:xfrm>
            <a:custGeom>
              <a:avLst/>
              <a:gdLst/>
              <a:ahLst/>
              <a:cxnLst/>
              <a:rect r="r" b="b" t="t" l="l"/>
              <a:pathLst>
                <a:path h="2053140" w="56029">
                  <a:moveTo>
                    <a:pt x="0" y="33854"/>
                  </a:moveTo>
                  <a:cubicBezTo>
                    <a:pt x="0" y="15171"/>
                    <a:pt x="6653" y="0"/>
                    <a:pt x="14848" y="0"/>
                  </a:cubicBezTo>
                  <a:lnTo>
                    <a:pt x="41181" y="0"/>
                  </a:lnTo>
                  <a:cubicBezTo>
                    <a:pt x="49375" y="0"/>
                    <a:pt x="56029" y="15171"/>
                    <a:pt x="56029" y="33854"/>
                  </a:cubicBezTo>
                  <a:lnTo>
                    <a:pt x="56029" y="2019285"/>
                  </a:lnTo>
                  <a:cubicBezTo>
                    <a:pt x="56029" y="2037969"/>
                    <a:pt x="49375" y="2053140"/>
                    <a:pt x="41181" y="2053140"/>
                  </a:cubicBezTo>
                  <a:lnTo>
                    <a:pt x="14848" y="2053140"/>
                  </a:lnTo>
                  <a:cubicBezTo>
                    <a:pt x="6653" y="2053140"/>
                    <a:pt x="0" y="2037969"/>
                    <a:pt x="0" y="2019285"/>
                  </a:cubicBezTo>
                  <a:close/>
                </a:path>
              </a:pathLst>
            </a:custGeom>
            <a:solidFill>
              <a:srgbClr val="BFA486"/>
            </a:solidFill>
          </p:spPr>
        </p:sp>
      </p:grpSp>
      <p:sp>
        <p:nvSpPr>
          <p:cNvPr name="Freeform 28" id="28"/>
          <p:cNvSpPr/>
          <p:nvPr/>
        </p:nvSpPr>
        <p:spPr>
          <a:xfrm flipH="false" flipV="false" rot="0">
            <a:off x="-2133325" y="0"/>
            <a:ext cx="4038688" cy="4114800"/>
          </a:xfrm>
          <a:custGeom>
            <a:avLst/>
            <a:gdLst/>
            <a:ahLst/>
            <a:cxnLst/>
            <a:rect r="r" b="b" t="t" l="l"/>
            <a:pathLst>
              <a:path h="4114800" w="4038688">
                <a:moveTo>
                  <a:pt x="0" y="0"/>
                </a:moveTo>
                <a:lnTo>
                  <a:pt x="4038688" y="0"/>
                </a:lnTo>
                <a:lnTo>
                  <a:pt x="4038688"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9" id="29"/>
          <p:cNvSpPr txBox="true"/>
          <p:nvPr/>
        </p:nvSpPr>
        <p:spPr>
          <a:xfrm rot="0">
            <a:off x="828753" y="2202997"/>
            <a:ext cx="11169253" cy="436562"/>
          </a:xfrm>
          <a:prstGeom prst="rect">
            <a:avLst/>
          </a:prstGeom>
        </p:spPr>
        <p:txBody>
          <a:bodyPr anchor="t" rtlCol="false" tIns="0" lIns="0" bIns="0" rIns="0">
            <a:spAutoFit/>
          </a:bodyPr>
          <a:lstStyle/>
          <a:p>
            <a:pPr algn="l">
              <a:lnSpc>
                <a:spcPts val="3312"/>
              </a:lnSpc>
            </a:pPr>
            <a:r>
              <a:rPr lang="en-US" sz="2625" b="true">
                <a:solidFill>
                  <a:srgbClr val="484237"/>
                </a:solidFill>
                <a:latin typeface="Arimo Bold"/>
                <a:ea typeface="Arimo Bold"/>
                <a:cs typeface="Arimo Bold"/>
                <a:sym typeface="Arimo Bold"/>
              </a:rPr>
              <a:t>One un</a:t>
            </a:r>
            <a:r>
              <a:rPr lang="en-US" sz="2625" b="true">
                <a:solidFill>
                  <a:srgbClr val="484237"/>
                </a:solidFill>
                <a:latin typeface="Arimo Bold"/>
                <a:ea typeface="Arimo Bold"/>
                <a:cs typeface="Arimo Bold"/>
                <a:sym typeface="Arimo Bold"/>
              </a:rPr>
              <a:t>ified platform purpose-built for Quranic Arabic comprehension.</a:t>
            </a:r>
          </a:p>
        </p:txBody>
      </p:sp>
      <p:sp>
        <p:nvSpPr>
          <p:cNvPr name="TextBox 30" id="30"/>
          <p:cNvSpPr txBox="true"/>
          <p:nvPr/>
        </p:nvSpPr>
        <p:spPr>
          <a:xfrm rot="0">
            <a:off x="1124560" y="4895031"/>
            <a:ext cx="3631257" cy="436562"/>
          </a:xfrm>
          <a:prstGeom prst="rect">
            <a:avLst/>
          </a:prstGeom>
        </p:spPr>
        <p:txBody>
          <a:bodyPr anchor="t" rtlCol="false" tIns="0" lIns="0" bIns="0" rIns="0">
            <a:spAutoFit/>
          </a:bodyPr>
          <a:lstStyle/>
          <a:p>
            <a:pPr algn="l">
              <a:lnSpc>
                <a:spcPts val="3312"/>
              </a:lnSpc>
            </a:pPr>
            <a:r>
              <a:rPr lang="en-US" sz="2625" b="true">
                <a:solidFill>
                  <a:srgbClr val="746558"/>
                </a:solidFill>
                <a:latin typeface="Arimo Bold"/>
                <a:ea typeface="Arimo Bold"/>
                <a:cs typeface="Arimo Bold"/>
                <a:sym typeface="Arimo Bold"/>
              </a:rPr>
              <a:t>NLP-P</a:t>
            </a:r>
            <a:r>
              <a:rPr lang="en-US" sz="2625" b="true">
                <a:solidFill>
                  <a:srgbClr val="746558"/>
                </a:solidFill>
                <a:latin typeface="Arimo Bold"/>
                <a:ea typeface="Arimo Bold"/>
                <a:cs typeface="Arimo Bold"/>
                <a:sym typeface="Arimo Bold"/>
              </a:rPr>
              <a:t>owered Analysis</a:t>
            </a:r>
          </a:p>
        </p:txBody>
      </p:sp>
      <p:sp>
        <p:nvSpPr>
          <p:cNvPr name="TextBox 31" id="31"/>
          <p:cNvSpPr txBox="true"/>
          <p:nvPr/>
        </p:nvSpPr>
        <p:spPr>
          <a:xfrm rot="0">
            <a:off x="1124560" y="5772969"/>
            <a:ext cx="3933431" cy="1216025"/>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Au</a:t>
            </a:r>
            <a:r>
              <a:rPr lang="en-US" sz="2062">
                <a:solidFill>
                  <a:srgbClr val="746558"/>
                </a:solidFill>
                <a:latin typeface="Arimo"/>
                <a:ea typeface="Arimo"/>
                <a:cs typeface="Arimo"/>
                <a:sym typeface="Arimo"/>
              </a:rPr>
              <a:t>tomatic morphological breakdown (Sarf) via CAMeL Tools.</a:t>
            </a:r>
          </a:p>
        </p:txBody>
      </p:sp>
      <p:grpSp>
        <p:nvGrpSpPr>
          <p:cNvPr name="Group 32" id="32"/>
          <p:cNvGrpSpPr/>
          <p:nvPr/>
        </p:nvGrpSpPr>
        <p:grpSpPr>
          <a:xfrm rot="0">
            <a:off x="623496" y="677848"/>
            <a:ext cx="5979772" cy="2087030"/>
            <a:chOff x="0" y="0"/>
            <a:chExt cx="7973029" cy="2782707"/>
          </a:xfrm>
        </p:grpSpPr>
        <p:sp>
          <p:nvSpPr>
            <p:cNvPr name="TextBox 33" id="33"/>
            <p:cNvSpPr txBox="true"/>
            <p:nvPr/>
          </p:nvSpPr>
          <p:spPr>
            <a:xfrm rot="0">
              <a:off x="0" y="66675"/>
              <a:ext cx="7973029" cy="1579038"/>
            </a:xfrm>
            <a:prstGeom prst="rect">
              <a:avLst/>
            </a:prstGeom>
          </p:spPr>
          <p:txBody>
            <a:bodyPr anchor="t" rtlCol="false" tIns="0" lIns="0" bIns="0" rIns="0">
              <a:spAutoFit/>
            </a:bodyPr>
            <a:lstStyle/>
            <a:p>
              <a:pPr algn="ctr">
                <a:lnSpc>
                  <a:spcPts val="8938"/>
                </a:lnSpc>
              </a:pPr>
              <a:r>
                <a:rPr lang="en-US" sz="8125" spc="203">
                  <a:solidFill>
                    <a:srgbClr val="484237"/>
                  </a:solidFill>
                  <a:latin typeface="Forum"/>
                  <a:ea typeface="Forum"/>
                  <a:cs typeface="Forum"/>
                  <a:sym typeface="Forum"/>
                </a:rPr>
                <a:t>Our Solution</a:t>
              </a:r>
            </a:p>
          </p:txBody>
        </p:sp>
        <p:sp>
          <p:nvSpPr>
            <p:cNvPr name="TextBox 34" id="34"/>
            <p:cNvSpPr txBox="true"/>
            <p:nvPr/>
          </p:nvSpPr>
          <p:spPr>
            <a:xfrm rot="0">
              <a:off x="293860" y="2472035"/>
              <a:ext cx="3751213" cy="310672"/>
            </a:xfrm>
            <a:prstGeom prst="rect">
              <a:avLst/>
            </a:prstGeom>
          </p:spPr>
          <p:txBody>
            <a:bodyPr anchor="t" rtlCol="false" tIns="0" lIns="0" bIns="0" rIns="0">
              <a:spAutoFit/>
            </a:bodyPr>
            <a:lstStyle/>
            <a:p>
              <a:pPr algn="ctr">
                <a:lnSpc>
                  <a:spcPts val="1920"/>
                </a:lnSpc>
              </a:pPr>
            </a:p>
          </p:txBody>
        </p:sp>
      </p:grpSp>
      <p:sp>
        <p:nvSpPr>
          <p:cNvPr name="TextBox 35" id="35"/>
          <p:cNvSpPr txBox="true"/>
          <p:nvPr/>
        </p:nvSpPr>
        <p:spPr>
          <a:xfrm rot="0">
            <a:off x="828753" y="2930973"/>
            <a:ext cx="15963309" cy="331787"/>
          </a:xfrm>
          <a:prstGeom prst="rect">
            <a:avLst/>
          </a:prstGeom>
        </p:spPr>
        <p:txBody>
          <a:bodyPr anchor="t" rtlCol="false" tIns="0" lIns="0" bIns="0" rIns="0">
            <a:spAutoFit/>
          </a:bodyPr>
          <a:lstStyle/>
          <a:p>
            <a:pPr algn="l">
              <a:lnSpc>
                <a:spcPts val="2562"/>
              </a:lnSpc>
            </a:pPr>
            <a:r>
              <a:rPr lang="en-US" sz="1750" i="true">
                <a:solidFill>
                  <a:srgbClr val="746558"/>
                </a:solidFill>
                <a:latin typeface="Arimo Italics"/>
                <a:ea typeface="Arimo Italics"/>
                <a:cs typeface="Arimo Italics"/>
                <a:sym typeface="Arimo Italics"/>
              </a:rPr>
              <a:t>Delivered as a cross-platform application on Android and iOS via Kotlin Multiplatform.</a:t>
            </a:r>
          </a:p>
        </p:txBody>
      </p:sp>
      <p:sp>
        <p:nvSpPr>
          <p:cNvPr name="TextBox 36" id="36"/>
          <p:cNvSpPr txBox="true"/>
          <p:nvPr/>
        </p:nvSpPr>
        <p:spPr>
          <a:xfrm rot="0">
            <a:off x="12399573" y="5539330"/>
            <a:ext cx="4401688" cy="1625600"/>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A sp</a:t>
            </a:r>
            <a:r>
              <a:rPr lang="en-US" sz="2062">
                <a:solidFill>
                  <a:srgbClr val="746558"/>
                </a:solidFill>
                <a:latin typeface="Arimo"/>
                <a:ea typeface="Arimo"/>
                <a:cs typeface="Arimo"/>
                <a:sym typeface="Arimo"/>
              </a:rPr>
              <a:t>aced repetition system for Quranic vocabulary combined with learning paths that adjust based on individual performance.</a:t>
            </a:r>
          </a:p>
        </p:txBody>
      </p:sp>
      <p:sp>
        <p:nvSpPr>
          <p:cNvPr name="TextBox 37" id="37"/>
          <p:cNvSpPr txBox="true"/>
          <p:nvPr/>
        </p:nvSpPr>
        <p:spPr>
          <a:xfrm rot="0">
            <a:off x="12399573" y="4895031"/>
            <a:ext cx="4631680" cy="436562"/>
          </a:xfrm>
          <a:prstGeom prst="rect">
            <a:avLst/>
          </a:prstGeom>
        </p:spPr>
        <p:txBody>
          <a:bodyPr anchor="t" rtlCol="false" tIns="0" lIns="0" bIns="0" rIns="0">
            <a:spAutoFit/>
          </a:bodyPr>
          <a:lstStyle/>
          <a:p>
            <a:pPr algn="l">
              <a:lnSpc>
                <a:spcPts val="3312"/>
              </a:lnSpc>
            </a:pPr>
            <a:r>
              <a:rPr lang="en-US" sz="2625" b="true">
                <a:solidFill>
                  <a:srgbClr val="746558"/>
                </a:solidFill>
                <a:latin typeface="Arimo Bold"/>
                <a:ea typeface="Arimo Bold"/>
                <a:cs typeface="Arimo Bold"/>
                <a:sym typeface="Arimo Bold"/>
              </a:rPr>
              <a:t>Ad</a:t>
            </a:r>
            <a:r>
              <a:rPr lang="en-US" sz="2625" b="true">
                <a:solidFill>
                  <a:srgbClr val="746558"/>
                </a:solidFill>
                <a:latin typeface="Arimo Bold"/>
                <a:ea typeface="Arimo Bold"/>
                <a:cs typeface="Arimo Bold"/>
                <a:sym typeface="Arimo Bold"/>
              </a:rPr>
              <a:t>aptive Vocabulary &amp; Paths</a:t>
            </a:r>
          </a:p>
        </p:txBody>
      </p:sp>
      <p:sp>
        <p:nvSpPr>
          <p:cNvPr name="TextBox 38" id="38"/>
          <p:cNvSpPr txBox="true"/>
          <p:nvPr/>
        </p:nvSpPr>
        <p:spPr>
          <a:xfrm rot="0">
            <a:off x="6603268" y="5630094"/>
            <a:ext cx="4098752" cy="1625600"/>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A G</a:t>
            </a:r>
            <a:r>
              <a:rPr lang="en-US" sz="2062">
                <a:solidFill>
                  <a:srgbClr val="746558"/>
                </a:solidFill>
                <a:latin typeface="Arimo"/>
                <a:ea typeface="Arimo"/>
                <a:cs typeface="Arimo"/>
                <a:sym typeface="Arimo"/>
              </a:rPr>
              <a:t>emini Flash-powered tutor that answers learner questions about grammar, meaning, and structure in real time.</a:t>
            </a:r>
          </a:p>
        </p:txBody>
      </p:sp>
      <p:sp>
        <p:nvSpPr>
          <p:cNvPr name="TextBox 39" id="39"/>
          <p:cNvSpPr txBox="true"/>
          <p:nvPr/>
        </p:nvSpPr>
        <p:spPr>
          <a:xfrm rot="0">
            <a:off x="6603268" y="4895031"/>
            <a:ext cx="3778746" cy="436562"/>
          </a:xfrm>
          <a:prstGeom prst="rect">
            <a:avLst/>
          </a:prstGeom>
        </p:spPr>
        <p:txBody>
          <a:bodyPr anchor="t" rtlCol="false" tIns="0" lIns="0" bIns="0" rIns="0">
            <a:spAutoFit/>
          </a:bodyPr>
          <a:lstStyle/>
          <a:p>
            <a:pPr algn="l">
              <a:lnSpc>
                <a:spcPts val="3312"/>
              </a:lnSpc>
            </a:pPr>
            <a:r>
              <a:rPr lang="en-US" sz="2625" b="true">
                <a:solidFill>
                  <a:srgbClr val="746558"/>
                </a:solidFill>
                <a:latin typeface="Arimo Bold"/>
                <a:ea typeface="Arimo Bold"/>
                <a:cs typeface="Arimo Bold"/>
                <a:sym typeface="Arimo Bold"/>
              </a:rPr>
              <a:t>AI</a:t>
            </a:r>
            <a:r>
              <a:rPr lang="en-US" sz="2625" b="true">
                <a:solidFill>
                  <a:srgbClr val="746558"/>
                </a:solidFill>
                <a:latin typeface="Arimo Bold"/>
                <a:ea typeface="Arimo Bold"/>
                <a:cs typeface="Arimo Bold"/>
                <a:sym typeface="Arimo Bold"/>
              </a:rPr>
              <a:t> Conversational Tutor</a:t>
            </a:r>
          </a:p>
        </p:txBody>
      </p:sp>
      <p:grpSp>
        <p:nvGrpSpPr>
          <p:cNvPr name="Group 40" id="40"/>
          <p:cNvGrpSpPr/>
          <p:nvPr/>
        </p:nvGrpSpPr>
        <p:grpSpPr>
          <a:xfrm rot="5400000">
            <a:off x="14582113" y="6695185"/>
            <a:ext cx="135523" cy="4966172"/>
            <a:chOff x="0" y="0"/>
            <a:chExt cx="56029" cy="2053148"/>
          </a:xfrm>
        </p:grpSpPr>
        <p:sp>
          <p:nvSpPr>
            <p:cNvPr name="Freeform 41" id="41"/>
            <p:cNvSpPr/>
            <p:nvPr/>
          </p:nvSpPr>
          <p:spPr>
            <a:xfrm flipH="false" flipV="false" rot="0">
              <a:off x="0" y="0"/>
              <a:ext cx="56029" cy="2053140"/>
            </a:xfrm>
            <a:custGeom>
              <a:avLst/>
              <a:gdLst/>
              <a:ahLst/>
              <a:cxnLst/>
              <a:rect r="r" b="b" t="t" l="l"/>
              <a:pathLst>
                <a:path h="2053140" w="56029">
                  <a:moveTo>
                    <a:pt x="0" y="33854"/>
                  </a:moveTo>
                  <a:cubicBezTo>
                    <a:pt x="0" y="15171"/>
                    <a:pt x="6653" y="0"/>
                    <a:pt x="14848" y="0"/>
                  </a:cubicBezTo>
                  <a:lnTo>
                    <a:pt x="41181" y="0"/>
                  </a:lnTo>
                  <a:cubicBezTo>
                    <a:pt x="49375" y="0"/>
                    <a:pt x="56029" y="15171"/>
                    <a:pt x="56029" y="33854"/>
                  </a:cubicBezTo>
                  <a:lnTo>
                    <a:pt x="56029" y="2019285"/>
                  </a:lnTo>
                  <a:cubicBezTo>
                    <a:pt x="56029" y="2037969"/>
                    <a:pt x="49375" y="2053140"/>
                    <a:pt x="41181" y="2053140"/>
                  </a:cubicBezTo>
                  <a:lnTo>
                    <a:pt x="14848" y="2053140"/>
                  </a:lnTo>
                  <a:cubicBezTo>
                    <a:pt x="6653" y="2053140"/>
                    <a:pt x="0" y="2037969"/>
                    <a:pt x="0" y="2019285"/>
                  </a:cubicBezTo>
                  <a:close/>
                </a:path>
              </a:pathLst>
            </a:custGeom>
            <a:solidFill>
              <a:srgbClr val="BFA486"/>
            </a:solidFill>
          </p:spPr>
        </p:sp>
      </p:grpSp>
      <p:grpSp>
        <p:nvGrpSpPr>
          <p:cNvPr name="Group 42" id="42"/>
          <p:cNvGrpSpPr/>
          <p:nvPr/>
        </p:nvGrpSpPr>
        <p:grpSpPr>
          <a:xfrm rot="5400000">
            <a:off x="8909437" y="6695185"/>
            <a:ext cx="135523" cy="4966172"/>
            <a:chOff x="0" y="0"/>
            <a:chExt cx="56029" cy="2053148"/>
          </a:xfrm>
        </p:grpSpPr>
        <p:sp>
          <p:nvSpPr>
            <p:cNvPr name="Freeform 43" id="43"/>
            <p:cNvSpPr/>
            <p:nvPr/>
          </p:nvSpPr>
          <p:spPr>
            <a:xfrm flipH="false" flipV="false" rot="0">
              <a:off x="0" y="0"/>
              <a:ext cx="56029" cy="2053140"/>
            </a:xfrm>
            <a:custGeom>
              <a:avLst/>
              <a:gdLst/>
              <a:ahLst/>
              <a:cxnLst/>
              <a:rect r="r" b="b" t="t" l="l"/>
              <a:pathLst>
                <a:path h="2053140" w="56029">
                  <a:moveTo>
                    <a:pt x="0" y="33854"/>
                  </a:moveTo>
                  <a:cubicBezTo>
                    <a:pt x="0" y="15171"/>
                    <a:pt x="6653" y="0"/>
                    <a:pt x="14848" y="0"/>
                  </a:cubicBezTo>
                  <a:lnTo>
                    <a:pt x="41181" y="0"/>
                  </a:lnTo>
                  <a:cubicBezTo>
                    <a:pt x="49375" y="0"/>
                    <a:pt x="56029" y="15171"/>
                    <a:pt x="56029" y="33854"/>
                  </a:cubicBezTo>
                  <a:lnTo>
                    <a:pt x="56029" y="2019285"/>
                  </a:lnTo>
                  <a:cubicBezTo>
                    <a:pt x="56029" y="2037969"/>
                    <a:pt x="49375" y="2053140"/>
                    <a:pt x="41181" y="2053140"/>
                  </a:cubicBezTo>
                  <a:lnTo>
                    <a:pt x="14848" y="2053140"/>
                  </a:lnTo>
                  <a:cubicBezTo>
                    <a:pt x="6653" y="2053140"/>
                    <a:pt x="0" y="2037969"/>
                    <a:pt x="0" y="2019285"/>
                  </a:cubicBezTo>
                  <a:close/>
                </a:path>
              </a:pathLst>
            </a:custGeom>
            <a:solidFill>
              <a:srgbClr val="BFA486"/>
            </a:solidFill>
          </p:spPr>
        </p:sp>
      </p:grpSp>
      <p:grpSp>
        <p:nvGrpSpPr>
          <p:cNvPr name="Group 44" id="44"/>
          <p:cNvGrpSpPr/>
          <p:nvPr/>
        </p:nvGrpSpPr>
        <p:grpSpPr>
          <a:xfrm rot="5400000">
            <a:off x="3244077" y="6707452"/>
            <a:ext cx="135523" cy="4966172"/>
            <a:chOff x="0" y="0"/>
            <a:chExt cx="56029" cy="2053148"/>
          </a:xfrm>
        </p:grpSpPr>
        <p:sp>
          <p:nvSpPr>
            <p:cNvPr name="Freeform 45" id="45"/>
            <p:cNvSpPr/>
            <p:nvPr/>
          </p:nvSpPr>
          <p:spPr>
            <a:xfrm flipH="false" flipV="false" rot="0">
              <a:off x="0" y="0"/>
              <a:ext cx="56029" cy="2053140"/>
            </a:xfrm>
            <a:custGeom>
              <a:avLst/>
              <a:gdLst/>
              <a:ahLst/>
              <a:cxnLst/>
              <a:rect r="r" b="b" t="t" l="l"/>
              <a:pathLst>
                <a:path h="2053140" w="56029">
                  <a:moveTo>
                    <a:pt x="0" y="33854"/>
                  </a:moveTo>
                  <a:cubicBezTo>
                    <a:pt x="0" y="15171"/>
                    <a:pt x="6653" y="0"/>
                    <a:pt x="14848" y="0"/>
                  </a:cubicBezTo>
                  <a:lnTo>
                    <a:pt x="41181" y="0"/>
                  </a:lnTo>
                  <a:cubicBezTo>
                    <a:pt x="49375" y="0"/>
                    <a:pt x="56029" y="15171"/>
                    <a:pt x="56029" y="33854"/>
                  </a:cubicBezTo>
                  <a:lnTo>
                    <a:pt x="56029" y="2019285"/>
                  </a:lnTo>
                  <a:cubicBezTo>
                    <a:pt x="56029" y="2037969"/>
                    <a:pt x="49375" y="2053140"/>
                    <a:pt x="41181" y="2053140"/>
                  </a:cubicBezTo>
                  <a:lnTo>
                    <a:pt x="14848" y="2053140"/>
                  </a:lnTo>
                  <a:cubicBezTo>
                    <a:pt x="6653" y="2053140"/>
                    <a:pt x="0" y="2037969"/>
                    <a:pt x="0" y="2019285"/>
                  </a:cubicBezTo>
                  <a:close/>
                </a:path>
              </a:pathLst>
            </a:custGeom>
            <a:solidFill>
              <a:srgbClr val="BFA486"/>
            </a:solidFill>
          </p:spPr>
        </p:sp>
      </p:grpSp>
      <p:grpSp>
        <p:nvGrpSpPr>
          <p:cNvPr name="Group 46" id="46"/>
          <p:cNvGrpSpPr/>
          <p:nvPr/>
        </p:nvGrpSpPr>
        <p:grpSpPr>
          <a:xfrm rot="-1212129">
            <a:off x="10591573" y="-629427"/>
            <a:ext cx="11802582" cy="3316253"/>
            <a:chOff x="0" y="0"/>
            <a:chExt cx="13872883" cy="3897960"/>
          </a:xfrm>
        </p:grpSpPr>
        <p:sp>
          <p:nvSpPr>
            <p:cNvPr name="Freeform 47" id="47"/>
            <p:cNvSpPr/>
            <p:nvPr/>
          </p:nvSpPr>
          <p:spPr>
            <a:xfrm flipH="false" flipV="false" rot="0">
              <a:off x="0" y="0"/>
              <a:ext cx="13872845" cy="3898011"/>
            </a:xfrm>
            <a:custGeom>
              <a:avLst/>
              <a:gdLst/>
              <a:ahLst/>
              <a:cxnLst/>
              <a:rect r="r" b="b" t="t" l="l"/>
              <a:pathLst>
                <a:path h="3898011" w="13872845">
                  <a:moveTo>
                    <a:pt x="0" y="0"/>
                  </a:moveTo>
                  <a:lnTo>
                    <a:pt x="13872845" y="0"/>
                  </a:lnTo>
                  <a:lnTo>
                    <a:pt x="13872845" y="3898011"/>
                  </a:lnTo>
                  <a:lnTo>
                    <a:pt x="0" y="3898011"/>
                  </a:lnTo>
                  <a:lnTo>
                    <a:pt x="0" y="0"/>
                  </a:lnTo>
                  <a:close/>
                </a:path>
              </a:pathLst>
            </a:custGeom>
            <a:blipFill>
              <a:blip r:embed="rId10"/>
              <a:stretch>
                <a:fillRect l="0" t="-363" r="0" b="-362"/>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9525"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sp>
        <p:nvSpPr>
          <p:cNvPr name="Freeform 12" id="12"/>
          <p:cNvSpPr/>
          <p:nvPr/>
        </p:nvSpPr>
        <p:spPr>
          <a:xfrm flipH="false" flipV="false" rot="0">
            <a:off x="5372836" y="183697"/>
            <a:ext cx="2710291" cy="2710291"/>
          </a:xfrm>
          <a:custGeom>
            <a:avLst/>
            <a:gdLst/>
            <a:ahLst/>
            <a:cxnLst/>
            <a:rect r="r" b="b" t="t" l="l"/>
            <a:pathLst>
              <a:path h="2710291" w="2710291">
                <a:moveTo>
                  <a:pt x="0" y="0"/>
                </a:moveTo>
                <a:lnTo>
                  <a:pt x="2710291" y="0"/>
                </a:lnTo>
                <a:lnTo>
                  <a:pt x="2710291" y="2710291"/>
                </a:lnTo>
                <a:lnTo>
                  <a:pt x="0" y="27102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3" id="13"/>
          <p:cNvGrpSpPr/>
          <p:nvPr/>
        </p:nvGrpSpPr>
        <p:grpSpPr>
          <a:xfrm rot="0">
            <a:off x="973188" y="1826724"/>
            <a:ext cx="16348624" cy="1109043"/>
            <a:chOff x="0" y="0"/>
            <a:chExt cx="21798166" cy="1478724"/>
          </a:xfrm>
        </p:grpSpPr>
        <p:sp>
          <p:nvSpPr>
            <p:cNvPr name="Freeform 14" id="14"/>
            <p:cNvSpPr/>
            <p:nvPr/>
          </p:nvSpPr>
          <p:spPr>
            <a:xfrm flipH="false" flipV="false" rot="0">
              <a:off x="25400" y="25400"/>
              <a:ext cx="21747353" cy="1427988"/>
            </a:xfrm>
            <a:custGeom>
              <a:avLst/>
              <a:gdLst/>
              <a:ahLst/>
              <a:cxnLst/>
              <a:rect r="r" b="b" t="t" l="l"/>
              <a:pathLst>
                <a:path h="1427988" w="21747353">
                  <a:moveTo>
                    <a:pt x="0" y="106680"/>
                  </a:moveTo>
                  <a:cubicBezTo>
                    <a:pt x="0" y="47752"/>
                    <a:pt x="49276" y="0"/>
                    <a:pt x="110109" y="0"/>
                  </a:cubicBezTo>
                  <a:lnTo>
                    <a:pt x="21637244" y="0"/>
                  </a:lnTo>
                  <a:cubicBezTo>
                    <a:pt x="21698077" y="0"/>
                    <a:pt x="21747353" y="47752"/>
                    <a:pt x="21747353" y="106680"/>
                  </a:cubicBezTo>
                  <a:lnTo>
                    <a:pt x="21747353" y="1321308"/>
                  </a:lnTo>
                  <a:cubicBezTo>
                    <a:pt x="21747353" y="1380236"/>
                    <a:pt x="21698077" y="1427988"/>
                    <a:pt x="21637244" y="1427988"/>
                  </a:cubicBezTo>
                  <a:lnTo>
                    <a:pt x="110109" y="1427988"/>
                  </a:lnTo>
                  <a:cubicBezTo>
                    <a:pt x="49276" y="1427988"/>
                    <a:pt x="0" y="1380236"/>
                    <a:pt x="0" y="1321308"/>
                  </a:cubicBezTo>
                  <a:close/>
                </a:path>
              </a:pathLst>
            </a:custGeom>
            <a:solidFill>
              <a:srgbClr val="F9F6F0"/>
            </a:solidFill>
          </p:spPr>
        </p:sp>
        <p:sp>
          <p:nvSpPr>
            <p:cNvPr name="Freeform 15" id="15"/>
            <p:cNvSpPr/>
            <p:nvPr/>
          </p:nvSpPr>
          <p:spPr>
            <a:xfrm flipH="false" flipV="false" rot="0">
              <a:off x="0" y="0"/>
              <a:ext cx="21798153" cy="1478788"/>
            </a:xfrm>
            <a:custGeom>
              <a:avLst/>
              <a:gdLst/>
              <a:ahLst/>
              <a:cxnLst/>
              <a:rect r="r" b="b" t="t" l="l"/>
              <a:pathLst>
                <a:path h="1478788" w="21798153">
                  <a:moveTo>
                    <a:pt x="0" y="132080"/>
                  </a:moveTo>
                  <a:cubicBezTo>
                    <a:pt x="0" y="58293"/>
                    <a:pt x="61468" y="0"/>
                    <a:pt x="135509" y="0"/>
                  </a:cubicBezTo>
                  <a:lnTo>
                    <a:pt x="21662644" y="0"/>
                  </a:lnTo>
                  <a:lnTo>
                    <a:pt x="21662644" y="25400"/>
                  </a:lnTo>
                  <a:lnTo>
                    <a:pt x="21662644" y="0"/>
                  </a:lnTo>
                  <a:cubicBezTo>
                    <a:pt x="21736684" y="0"/>
                    <a:pt x="21798153" y="58293"/>
                    <a:pt x="21798153" y="132080"/>
                  </a:cubicBezTo>
                  <a:lnTo>
                    <a:pt x="21772753" y="132080"/>
                  </a:lnTo>
                  <a:lnTo>
                    <a:pt x="21798153" y="132080"/>
                  </a:lnTo>
                  <a:lnTo>
                    <a:pt x="21798153" y="1346708"/>
                  </a:lnTo>
                  <a:lnTo>
                    <a:pt x="21772753" y="1346708"/>
                  </a:lnTo>
                  <a:lnTo>
                    <a:pt x="21798153" y="1346708"/>
                  </a:lnTo>
                  <a:cubicBezTo>
                    <a:pt x="21798153" y="1420368"/>
                    <a:pt x="21736684" y="1478788"/>
                    <a:pt x="21662644" y="1478788"/>
                  </a:cubicBezTo>
                  <a:lnTo>
                    <a:pt x="21662644" y="1453388"/>
                  </a:lnTo>
                  <a:lnTo>
                    <a:pt x="21662644" y="1478788"/>
                  </a:lnTo>
                  <a:lnTo>
                    <a:pt x="135509" y="1478788"/>
                  </a:lnTo>
                  <a:lnTo>
                    <a:pt x="135509" y="1453388"/>
                  </a:lnTo>
                  <a:lnTo>
                    <a:pt x="135509" y="1478788"/>
                  </a:lnTo>
                  <a:cubicBezTo>
                    <a:pt x="61468" y="1478661"/>
                    <a:pt x="0" y="1420368"/>
                    <a:pt x="0" y="1346708"/>
                  </a:cubicBezTo>
                  <a:lnTo>
                    <a:pt x="0" y="132080"/>
                  </a:lnTo>
                  <a:lnTo>
                    <a:pt x="25400" y="132080"/>
                  </a:lnTo>
                  <a:lnTo>
                    <a:pt x="0" y="132080"/>
                  </a:lnTo>
                  <a:moveTo>
                    <a:pt x="50800" y="132080"/>
                  </a:moveTo>
                  <a:lnTo>
                    <a:pt x="50800" y="1346708"/>
                  </a:lnTo>
                  <a:lnTo>
                    <a:pt x="25400" y="1346708"/>
                  </a:lnTo>
                  <a:lnTo>
                    <a:pt x="50800" y="1346708"/>
                  </a:lnTo>
                  <a:cubicBezTo>
                    <a:pt x="50800" y="1390777"/>
                    <a:pt x="88011" y="1427988"/>
                    <a:pt x="135509" y="1427988"/>
                  </a:cubicBezTo>
                  <a:lnTo>
                    <a:pt x="21662644" y="1427988"/>
                  </a:lnTo>
                  <a:cubicBezTo>
                    <a:pt x="21710269" y="1427988"/>
                    <a:pt x="21747353" y="1390904"/>
                    <a:pt x="21747353" y="1346708"/>
                  </a:cubicBezTo>
                  <a:lnTo>
                    <a:pt x="21747353" y="132080"/>
                  </a:lnTo>
                  <a:cubicBezTo>
                    <a:pt x="21747353" y="88011"/>
                    <a:pt x="21710142" y="50800"/>
                    <a:pt x="21662644" y="50800"/>
                  </a:cubicBezTo>
                  <a:lnTo>
                    <a:pt x="135509" y="50800"/>
                  </a:lnTo>
                  <a:lnTo>
                    <a:pt x="135509" y="25400"/>
                  </a:lnTo>
                  <a:lnTo>
                    <a:pt x="135509" y="50800"/>
                  </a:lnTo>
                  <a:cubicBezTo>
                    <a:pt x="88011" y="50800"/>
                    <a:pt x="50800" y="87884"/>
                    <a:pt x="50800" y="132080"/>
                  </a:cubicBezTo>
                  <a:close/>
                </a:path>
              </a:pathLst>
            </a:custGeom>
            <a:solidFill>
              <a:srgbClr val="D4CEC3"/>
            </a:solidFill>
          </p:spPr>
        </p:sp>
      </p:grpSp>
      <p:grpSp>
        <p:nvGrpSpPr>
          <p:cNvPr name="Group 16" id="16"/>
          <p:cNvGrpSpPr/>
          <p:nvPr/>
        </p:nvGrpSpPr>
        <p:grpSpPr>
          <a:xfrm rot="0">
            <a:off x="973188" y="5860837"/>
            <a:ext cx="16348624" cy="1109043"/>
            <a:chOff x="0" y="0"/>
            <a:chExt cx="21798166" cy="1478724"/>
          </a:xfrm>
        </p:grpSpPr>
        <p:sp>
          <p:nvSpPr>
            <p:cNvPr name="Freeform 17" id="17"/>
            <p:cNvSpPr/>
            <p:nvPr/>
          </p:nvSpPr>
          <p:spPr>
            <a:xfrm flipH="false" flipV="false" rot="0">
              <a:off x="25400" y="25400"/>
              <a:ext cx="21747353" cy="1427988"/>
            </a:xfrm>
            <a:custGeom>
              <a:avLst/>
              <a:gdLst/>
              <a:ahLst/>
              <a:cxnLst/>
              <a:rect r="r" b="b" t="t" l="l"/>
              <a:pathLst>
                <a:path h="1427988" w="21747353">
                  <a:moveTo>
                    <a:pt x="0" y="106680"/>
                  </a:moveTo>
                  <a:cubicBezTo>
                    <a:pt x="0" y="47752"/>
                    <a:pt x="49276" y="0"/>
                    <a:pt x="110109" y="0"/>
                  </a:cubicBezTo>
                  <a:lnTo>
                    <a:pt x="21637244" y="0"/>
                  </a:lnTo>
                  <a:cubicBezTo>
                    <a:pt x="21698077" y="0"/>
                    <a:pt x="21747353" y="47752"/>
                    <a:pt x="21747353" y="106680"/>
                  </a:cubicBezTo>
                  <a:lnTo>
                    <a:pt x="21747353" y="1321308"/>
                  </a:lnTo>
                  <a:cubicBezTo>
                    <a:pt x="21747353" y="1380236"/>
                    <a:pt x="21698077" y="1427988"/>
                    <a:pt x="21637244" y="1427988"/>
                  </a:cubicBezTo>
                  <a:lnTo>
                    <a:pt x="110109" y="1427988"/>
                  </a:lnTo>
                  <a:cubicBezTo>
                    <a:pt x="49276" y="1427988"/>
                    <a:pt x="0" y="1380236"/>
                    <a:pt x="0" y="1321308"/>
                  </a:cubicBezTo>
                  <a:close/>
                </a:path>
              </a:pathLst>
            </a:custGeom>
            <a:solidFill>
              <a:srgbClr val="F9F6F0"/>
            </a:solidFill>
          </p:spPr>
        </p:sp>
        <p:sp>
          <p:nvSpPr>
            <p:cNvPr name="Freeform 18" id="18"/>
            <p:cNvSpPr/>
            <p:nvPr/>
          </p:nvSpPr>
          <p:spPr>
            <a:xfrm flipH="false" flipV="false" rot="0">
              <a:off x="0" y="0"/>
              <a:ext cx="21798153" cy="1478788"/>
            </a:xfrm>
            <a:custGeom>
              <a:avLst/>
              <a:gdLst/>
              <a:ahLst/>
              <a:cxnLst/>
              <a:rect r="r" b="b" t="t" l="l"/>
              <a:pathLst>
                <a:path h="1478788" w="21798153">
                  <a:moveTo>
                    <a:pt x="0" y="132080"/>
                  </a:moveTo>
                  <a:cubicBezTo>
                    <a:pt x="0" y="58293"/>
                    <a:pt x="61468" y="0"/>
                    <a:pt x="135509" y="0"/>
                  </a:cubicBezTo>
                  <a:lnTo>
                    <a:pt x="21662644" y="0"/>
                  </a:lnTo>
                  <a:lnTo>
                    <a:pt x="21662644" y="25400"/>
                  </a:lnTo>
                  <a:lnTo>
                    <a:pt x="21662644" y="0"/>
                  </a:lnTo>
                  <a:cubicBezTo>
                    <a:pt x="21736684" y="0"/>
                    <a:pt x="21798153" y="58293"/>
                    <a:pt x="21798153" y="132080"/>
                  </a:cubicBezTo>
                  <a:lnTo>
                    <a:pt x="21772753" y="132080"/>
                  </a:lnTo>
                  <a:lnTo>
                    <a:pt x="21798153" y="132080"/>
                  </a:lnTo>
                  <a:lnTo>
                    <a:pt x="21798153" y="1346708"/>
                  </a:lnTo>
                  <a:lnTo>
                    <a:pt x="21772753" y="1346708"/>
                  </a:lnTo>
                  <a:lnTo>
                    <a:pt x="21798153" y="1346708"/>
                  </a:lnTo>
                  <a:cubicBezTo>
                    <a:pt x="21798153" y="1420368"/>
                    <a:pt x="21736684" y="1478788"/>
                    <a:pt x="21662644" y="1478788"/>
                  </a:cubicBezTo>
                  <a:lnTo>
                    <a:pt x="21662644" y="1453388"/>
                  </a:lnTo>
                  <a:lnTo>
                    <a:pt x="21662644" y="1478788"/>
                  </a:lnTo>
                  <a:lnTo>
                    <a:pt x="135509" y="1478788"/>
                  </a:lnTo>
                  <a:lnTo>
                    <a:pt x="135509" y="1453388"/>
                  </a:lnTo>
                  <a:lnTo>
                    <a:pt x="135509" y="1478788"/>
                  </a:lnTo>
                  <a:cubicBezTo>
                    <a:pt x="61468" y="1478661"/>
                    <a:pt x="0" y="1420368"/>
                    <a:pt x="0" y="1346708"/>
                  </a:cubicBezTo>
                  <a:lnTo>
                    <a:pt x="0" y="132080"/>
                  </a:lnTo>
                  <a:lnTo>
                    <a:pt x="25400" y="132080"/>
                  </a:lnTo>
                  <a:lnTo>
                    <a:pt x="0" y="132080"/>
                  </a:lnTo>
                  <a:moveTo>
                    <a:pt x="50800" y="132080"/>
                  </a:moveTo>
                  <a:lnTo>
                    <a:pt x="50800" y="1346708"/>
                  </a:lnTo>
                  <a:lnTo>
                    <a:pt x="25400" y="1346708"/>
                  </a:lnTo>
                  <a:lnTo>
                    <a:pt x="50800" y="1346708"/>
                  </a:lnTo>
                  <a:cubicBezTo>
                    <a:pt x="50800" y="1390777"/>
                    <a:pt x="88011" y="1427988"/>
                    <a:pt x="135509" y="1427988"/>
                  </a:cubicBezTo>
                  <a:lnTo>
                    <a:pt x="21662644" y="1427988"/>
                  </a:lnTo>
                  <a:cubicBezTo>
                    <a:pt x="21710269" y="1427988"/>
                    <a:pt x="21747353" y="1390904"/>
                    <a:pt x="21747353" y="1346708"/>
                  </a:cubicBezTo>
                  <a:lnTo>
                    <a:pt x="21747353" y="132080"/>
                  </a:lnTo>
                  <a:cubicBezTo>
                    <a:pt x="21747353" y="88011"/>
                    <a:pt x="21710142" y="50800"/>
                    <a:pt x="21662644" y="50800"/>
                  </a:cubicBezTo>
                  <a:lnTo>
                    <a:pt x="135509" y="50800"/>
                  </a:lnTo>
                  <a:lnTo>
                    <a:pt x="135509" y="25400"/>
                  </a:lnTo>
                  <a:lnTo>
                    <a:pt x="135509" y="50800"/>
                  </a:lnTo>
                  <a:cubicBezTo>
                    <a:pt x="88011" y="50800"/>
                    <a:pt x="50800" y="87884"/>
                    <a:pt x="50800" y="132080"/>
                  </a:cubicBezTo>
                  <a:close/>
                </a:path>
              </a:pathLst>
            </a:custGeom>
            <a:solidFill>
              <a:srgbClr val="D4CEC3"/>
            </a:solidFill>
          </p:spPr>
        </p:sp>
      </p:grpSp>
      <p:grpSp>
        <p:nvGrpSpPr>
          <p:cNvPr name="Group 19" id="19"/>
          <p:cNvGrpSpPr/>
          <p:nvPr/>
        </p:nvGrpSpPr>
        <p:grpSpPr>
          <a:xfrm rot="0">
            <a:off x="973188" y="8550250"/>
            <a:ext cx="16348624" cy="1109043"/>
            <a:chOff x="0" y="0"/>
            <a:chExt cx="21798166" cy="1478724"/>
          </a:xfrm>
        </p:grpSpPr>
        <p:sp>
          <p:nvSpPr>
            <p:cNvPr name="Freeform 20" id="20"/>
            <p:cNvSpPr/>
            <p:nvPr/>
          </p:nvSpPr>
          <p:spPr>
            <a:xfrm flipH="false" flipV="false" rot="0">
              <a:off x="25400" y="25400"/>
              <a:ext cx="21747353" cy="1427988"/>
            </a:xfrm>
            <a:custGeom>
              <a:avLst/>
              <a:gdLst/>
              <a:ahLst/>
              <a:cxnLst/>
              <a:rect r="r" b="b" t="t" l="l"/>
              <a:pathLst>
                <a:path h="1427988" w="21747353">
                  <a:moveTo>
                    <a:pt x="0" y="106680"/>
                  </a:moveTo>
                  <a:cubicBezTo>
                    <a:pt x="0" y="47752"/>
                    <a:pt x="49276" y="0"/>
                    <a:pt x="110109" y="0"/>
                  </a:cubicBezTo>
                  <a:lnTo>
                    <a:pt x="21637244" y="0"/>
                  </a:lnTo>
                  <a:cubicBezTo>
                    <a:pt x="21698077" y="0"/>
                    <a:pt x="21747353" y="47752"/>
                    <a:pt x="21747353" y="106680"/>
                  </a:cubicBezTo>
                  <a:lnTo>
                    <a:pt x="21747353" y="1321308"/>
                  </a:lnTo>
                  <a:cubicBezTo>
                    <a:pt x="21747353" y="1380236"/>
                    <a:pt x="21698077" y="1427988"/>
                    <a:pt x="21637244" y="1427988"/>
                  </a:cubicBezTo>
                  <a:lnTo>
                    <a:pt x="110109" y="1427988"/>
                  </a:lnTo>
                  <a:cubicBezTo>
                    <a:pt x="49276" y="1427988"/>
                    <a:pt x="0" y="1380236"/>
                    <a:pt x="0" y="1321308"/>
                  </a:cubicBezTo>
                  <a:close/>
                </a:path>
              </a:pathLst>
            </a:custGeom>
            <a:solidFill>
              <a:srgbClr val="F9F6F0"/>
            </a:solidFill>
          </p:spPr>
        </p:sp>
        <p:sp>
          <p:nvSpPr>
            <p:cNvPr name="Freeform 21" id="21"/>
            <p:cNvSpPr/>
            <p:nvPr/>
          </p:nvSpPr>
          <p:spPr>
            <a:xfrm flipH="false" flipV="false" rot="0">
              <a:off x="0" y="0"/>
              <a:ext cx="21798153" cy="1478788"/>
            </a:xfrm>
            <a:custGeom>
              <a:avLst/>
              <a:gdLst/>
              <a:ahLst/>
              <a:cxnLst/>
              <a:rect r="r" b="b" t="t" l="l"/>
              <a:pathLst>
                <a:path h="1478788" w="21798153">
                  <a:moveTo>
                    <a:pt x="0" y="132080"/>
                  </a:moveTo>
                  <a:cubicBezTo>
                    <a:pt x="0" y="58293"/>
                    <a:pt x="61468" y="0"/>
                    <a:pt x="135509" y="0"/>
                  </a:cubicBezTo>
                  <a:lnTo>
                    <a:pt x="21662644" y="0"/>
                  </a:lnTo>
                  <a:lnTo>
                    <a:pt x="21662644" y="25400"/>
                  </a:lnTo>
                  <a:lnTo>
                    <a:pt x="21662644" y="0"/>
                  </a:lnTo>
                  <a:cubicBezTo>
                    <a:pt x="21736684" y="0"/>
                    <a:pt x="21798153" y="58293"/>
                    <a:pt x="21798153" y="132080"/>
                  </a:cubicBezTo>
                  <a:lnTo>
                    <a:pt x="21772753" y="132080"/>
                  </a:lnTo>
                  <a:lnTo>
                    <a:pt x="21798153" y="132080"/>
                  </a:lnTo>
                  <a:lnTo>
                    <a:pt x="21798153" y="1346708"/>
                  </a:lnTo>
                  <a:lnTo>
                    <a:pt x="21772753" y="1346708"/>
                  </a:lnTo>
                  <a:lnTo>
                    <a:pt x="21798153" y="1346708"/>
                  </a:lnTo>
                  <a:cubicBezTo>
                    <a:pt x="21798153" y="1420368"/>
                    <a:pt x="21736684" y="1478788"/>
                    <a:pt x="21662644" y="1478788"/>
                  </a:cubicBezTo>
                  <a:lnTo>
                    <a:pt x="21662644" y="1453388"/>
                  </a:lnTo>
                  <a:lnTo>
                    <a:pt x="21662644" y="1478788"/>
                  </a:lnTo>
                  <a:lnTo>
                    <a:pt x="135509" y="1478788"/>
                  </a:lnTo>
                  <a:lnTo>
                    <a:pt x="135509" y="1453388"/>
                  </a:lnTo>
                  <a:lnTo>
                    <a:pt x="135509" y="1478788"/>
                  </a:lnTo>
                  <a:cubicBezTo>
                    <a:pt x="61468" y="1478661"/>
                    <a:pt x="0" y="1420368"/>
                    <a:pt x="0" y="1346708"/>
                  </a:cubicBezTo>
                  <a:lnTo>
                    <a:pt x="0" y="132080"/>
                  </a:lnTo>
                  <a:lnTo>
                    <a:pt x="25400" y="132080"/>
                  </a:lnTo>
                  <a:lnTo>
                    <a:pt x="0" y="132080"/>
                  </a:lnTo>
                  <a:moveTo>
                    <a:pt x="50800" y="132080"/>
                  </a:moveTo>
                  <a:lnTo>
                    <a:pt x="50800" y="1346708"/>
                  </a:lnTo>
                  <a:lnTo>
                    <a:pt x="25400" y="1346708"/>
                  </a:lnTo>
                  <a:lnTo>
                    <a:pt x="50800" y="1346708"/>
                  </a:lnTo>
                  <a:cubicBezTo>
                    <a:pt x="50800" y="1390777"/>
                    <a:pt x="88011" y="1427988"/>
                    <a:pt x="135509" y="1427988"/>
                  </a:cubicBezTo>
                  <a:lnTo>
                    <a:pt x="21662644" y="1427988"/>
                  </a:lnTo>
                  <a:cubicBezTo>
                    <a:pt x="21710269" y="1427988"/>
                    <a:pt x="21747353" y="1390904"/>
                    <a:pt x="21747353" y="1346708"/>
                  </a:cubicBezTo>
                  <a:lnTo>
                    <a:pt x="21747353" y="132080"/>
                  </a:lnTo>
                  <a:cubicBezTo>
                    <a:pt x="21747353" y="88011"/>
                    <a:pt x="21710142" y="50800"/>
                    <a:pt x="21662644" y="50800"/>
                  </a:cubicBezTo>
                  <a:lnTo>
                    <a:pt x="135509" y="50800"/>
                  </a:lnTo>
                  <a:lnTo>
                    <a:pt x="135509" y="25400"/>
                  </a:lnTo>
                  <a:lnTo>
                    <a:pt x="135509" y="50800"/>
                  </a:lnTo>
                  <a:cubicBezTo>
                    <a:pt x="88011" y="50800"/>
                    <a:pt x="50800" y="87884"/>
                    <a:pt x="50800" y="132080"/>
                  </a:cubicBezTo>
                  <a:close/>
                </a:path>
              </a:pathLst>
            </a:custGeom>
            <a:solidFill>
              <a:srgbClr val="D4CEC3"/>
            </a:solidFill>
          </p:spPr>
        </p:sp>
      </p:grpSp>
      <p:grpSp>
        <p:nvGrpSpPr>
          <p:cNvPr name="Group 22" id="22"/>
          <p:cNvGrpSpPr/>
          <p:nvPr/>
        </p:nvGrpSpPr>
        <p:grpSpPr>
          <a:xfrm rot="0">
            <a:off x="973188" y="7205548"/>
            <a:ext cx="16348624" cy="1109043"/>
            <a:chOff x="0" y="0"/>
            <a:chExt cx="21798166" cy="1478724"/>
          </a:xfrm>
        </p:grpSpPr>
        <p:sp>
          <p:nvSpPr>
            <p:cNvPr name="Freeform 23" id="23"/>
            <p:cNvSpPr/>
            <p:nvPr/>
          </p:nvSpPr>
          <p:spPr>
            <a:xfrm flipH="false" flipV="false" rot="0">
              <a:off x="25400" y="25400"/>
              <a:ext cx="21747353" cy="1427988"/>
            </a:xfrm>
            <a:custGeom>
              <a:avLst/>
              <a:gdLst/>
              <a:ahLst/>
              <a:cxnLst/>
              <a:rect r="r" b="b" t="t" l="l"/>
              <a:pathLst>
                <a:path h="1427988" w="21747353">
                  <a:moveTo>
                    <a:pt x="0" y="106680"/>
                  </a:moveTo>
                  <a:cubicBezTo>
                    <a:pt x="0" y="47752"/>
                    <a:pt x="49276" y="0"/>
                    <a:pt x="110109" y="0"/>
                  </a:cubicBezTo>
                  <a:lnTo>
                    <a:pt x="21637244" y="0"/>
                  </a:lnTo>
                  <a:cubicBezTo>
                    <a:pt x="21698077" y="0"/>
                    <a:pt x="21747353" y="47752"/>
                    <a:pt x="21747353" y="106680"/>
                  </a:cubicBezTo>
                  <a:lnTo>
                    <a:pt x="21747353" y="1321308"/>
                  </a:lnTo>
                  <a:cubicBezTo>
                    <a:pt x="21747353" y="1380236"/>
                    <a:pt x="21698077" y="1427988"/>
                    <a:pt x="21637244" y="1427988"/>
                  </a:cubicBezTo>
                  <a:lnTo>
                    <a:pt x="110109" y="1427988"/>
                  </a:lnTo>
                  <a:cubicBezTo>
                    <a:pt x="49276" y="1427988"/>
                    <a:pt x="0" y="1380236"/>
                    <a:pt x="0" y="1321308"/>
                  </a:cubicBezTo>
                  <a:close/>
                </a:path>
              </a:pathLst>
            </a:custGeom>
            <a:solidFill>
              <a:srgbClr val="F9F6F0"/>
            </a:solidFill>
          </p:spPr>
        </p:sp>
        <p:sp>
          <p:nvSpPr>
            <p:cNvPr name="Freeform 24" id="24"/>
            <p:cNvSpPr/>
            <p:nvPr/>
          </p:nvSpPr>
          <p:spPr>
            <a:xfrm flipH="false" flipV="false" rot="0">
              <a:off x="0" y="0"/>
              <a:ext cx="21798153" cy="1478788"/>
            </a:xfrm>
            <a:custGeom>
              <a:avLst/>
              <a:gdLst/>
              <a:ahLst/>
              <a:cxnLst/>
              <a:rect r="r" b="b" t="t" l="l"/>
              <a:pathLst>
                <a:path h="1478788" w="21798153">
                  <a:moveTo>
                    <a:pt x="0" y="132080"/>
                  </a:moveTo>
                  <a:cubicBezTo>
                    <a:pt x="0" y="58293"/>
                    <a:pt x="61468" y="0"/>
                    <a:pt x="135509" y="0"/>
                  </a:cubicBezTo>
                  <a:lnTo>
                    <a:pt x="21662644" y="0"/>
                  </a:lnTo>
                  <a:lnTo>
                    <a:pt x="21662644" y="25400"/>
                  </a:lnTo>
                  <a:lnTo>
                    <a:pt x="21662644" y="0"/>
                  </a:lnTo>
                  <a:cubicBezTo>
                    <a:pt x="21736684" y="0"/>
                    <a:pt x="21798153" y="58293"/>
                    <a:pt x="21798153" y="132080"/>
                  </a:cubicBezTo>
                  <a:lnTo>
                    <a:pt x="21772753" y="132080"/>
                  </a:lnTo>
                  <a:lnTo>
                    <a:pt x="21798153" y="132080"/>
                  </a:lnTo>
                  <a:lnTo>
                    <a:pt x="21798153" y="1346708"/>
                  </a:lnTo>
                  <a:lnTo>
                    <a:pt x="21772753" y="1346708"/>
                  </a:lnTo>
                  <a:lnTo>
                    <a:pt x="21798153" y="1346708"/>
                  </a:lnTo>
                  <a:cubicBezTo>
                    <a:pt x="21798153" y="1420368"/>
                    <a:pt x="21736684" y="1478788"/>
                    <a:pt x="21662644" y="1478788"/>
                  </a:cubicBezTo>
                  <a:lnTo>
                    <a:pt x="21662644" y="1453388"/>
                  </a:lnTo>
                  <a:lnTo>
                    <a:pt x="21662644" y="1478788"/>
                  </a:lnTo>
                  <a:lnTo>
                    <a:pt x="135509" y="1478788"/>
                  </a:lnTo>
                  <a:lnTo>
                    <a:pt x="135509" y="1453388"/>
                  </a:lnTo>
                  <a:lnTo>
                    <a:pt x="135509" y="1478788"/>
                  </a:lnTo>
                  <a:cubicBezTo>
                    <a:pt x="61468" y="1478661"/>
                    <a:pt x="0" y="1420368"/>
                    <a:pt x="0" y="1346708"/>
                  </a:cubicBezTo>
                  <a:lnTo>
                    <a:pt x="0" y="132080"/>
                  </a:lnTo>
                  <a:lnTo>
                    <a:pt x="25400" y="132080"/>
                  </a:lnTo>
                  <a:lnTo>
                    <a:pt x="0" y="132080"/>
                  </a:lnTo>
                  <a:moveTo>
                    <a:pt x="50800" y="132080"/>
                  </a:moveTo>
                  <a:lnTo>
                    <a:pt x="50800" y="1346708"/>
                  </a:lnTo>
                  <a:lnTo>
                    <a:pt x="25400" y="1346708"/>
                  </a:lnTo>
                  <a:lnTo>
                    <a:pt x="50800" y="1346708"/>
                  </a:lnTo>
                  <a:cubicBezTo>
                    <a:pt x="50800" y="1390777"/>
                    <a:pt x="88011" y="1427988"/>
                    <a:pt x="135509" y="1427988"/>
                  </a:cubicBezTo>
                  <a:lnTo>
                    <a:pt x="21662644" y="1427988"/>
                  </a:lnTo>
                  <a:cubicBezTo>
                    <a:pt x="21710269" y="1427988"/>
                    <a:pt x="21747353" y="1390904"/>
                    <a:pt x="21747353" y="1346708"/>
                  </a:cubicBezTo>
                  <a:lnTo>
                    <a:pt x="21747353" y="132080"/>
                  </a:lnTo>
                  <a:cubicBezTo>
                    <a:pt x="21747353" y="88011"/>
                    <a:pt x="21710142" y="50800"/>
                    <a:pt x="21662644" y="50800"/>
                  </a:cubicBezTo>
                  <a:lnTo>
                    <a:pt x="135509" y="50800"/>
                  </a:lnTo>
                  <a:lnTo>
                    <a:pt x="135509" y="25400"/>
                  </a:lnTo>
                  <a:lnTo>
                    <a:pt x="135509" y="50800"/>
                  </a:lnTo>
                  <a:cubicBezTo>
                    <a:pt x="88011" y="50800"/>
                    <a:pt x="50800" y="87884"/>
                    <a:pt x="50800" y="132080"/>
                  </a:cubicBezTo>
                  <a:close/>
                </a:path>
              </a:pathLst>
            </a:custGeom>
            <a:solidFill>
              <a:srgbClr val="D4CEC3"/>
            </a:solidFill>
          </p:spPr>
        </p:sp>
      </p:grpSp>
      <p:grpSp>
        <p:nvGrpSpPr>
          <p:cNvPr name="Group 25" id="25"/>
          <p:cNvGrpSpPr/>
          <p:nvPr/>
        </p:nvGrpSpPr>
        <p:grpSpPr>
          <a:xfrm rot="0">
            <a:off x="973188" y="3171434"/>
            <a:ext cx="16348624" cy="1109043"/>
            <a:chOff x="0" y="0"/>
            <a:chExt cx="21798166" cy="1478724"/>
          </a:xfrm>
        </p:grpSpPr>
        <p:sp>
          <p:nvSpPr>
            <p:cNvPr name="Freeform 26" id="26"/>
            <p:cNvSpPr/>
            <p:nvPr/>
          </p:nvSpPr>
          <p:spPr>
            <a:xfrm flipH="false" flipV="false" rot="0">
              <a:off x="25400" y="25400"/>
              <a:ext cx="21747353" cy="1427988"/>
            </a:xfrm>
            <a:custGeom>
              <a:avLst/>
              <a:gdLst/>
              <a:ahLst/>
              <a:cxnLst/>
              <a:rect r="r" b="b" t="t" l="l"/>
              <a:pathLst>
                <a:path h="1427988" w="21747353">
                  <a:moveTo>
                    <a:pt x="0" y="106680"/>
                  </a:moveTo>
                  <a:cubicBezTo>
                    <a:pt x="0" y="47752"/>
                    <a:pt x="49276" y="0"/>
                    <a:pt x="110109" y="0"/>
                  </a:cubicBezTo>
                  <a:lnTo>
                    <a:pt x="21637244" y="0"/>
                  </a:lnTo>
                  <a:cubicBezTo>
                    <a:pt x="21698077" y="0"/>
                    <a:pt x="21747353" y="47752"/>
                    <a:pt x="21747353" y="106680"/>
                  </a:cubicBezTo>
                  <a:lnTo>
                    <a:pt x="21747353" y="1321308"/>
                  </a:lnTo>
                  <a:cubicBezTo>
                    <a:pt x="21747353" y="1380236"/>
                    <a:pt x="21698077" y="1427988"/>
                    <a:pt x="21637244" y="1427988"/>
                  </a:cubicBezTo>
                  <a:lnTo>
                    <a:pt x="110109" y="1427988"/>
                  </a:lnTo>
                  <a:cubicBezTo>
                    <a:pt x="49276" y="1427988"/>
                    <a:pt x="0" y="1380236"/>
                    <a:pt x="0" y="1321308"/>
                  </a:cubicBezTo>
                  <a:close/>
                </a:path>
              </a:pathLst>
            </a:custGeom>
            <a:solidFill>
              <a:srgbClr val="F9F6F0"/>
            </a:solidFill>
          </p:spPr>
        </p:sp>
        <p:sp>
          <p:nvSpPr>
            <p:cNvPr name="Freeform 27" id="27"/>
            <p:cNvSpPr/>
            <p:nvPr/>
          </p:nvSpPr>
          <p:spPr>
            <a:xfrm flipH="false" flipV="false" rot="0">
              <a:off x="0" y="0"/>
              <a:ext cx="21798153" cy="1478788"/>
            </a:xfrm>
            <a:custGeom>
              <a:avLst/>
              <a:gdLst/>
              <a:ahLst/>
              <a:cxnLst/>
              <a:rect r="r" b="b" t="t" l="l"/>
              <a:pathLst>
                <a:path h="1478788" w="21798153">
                  <a:moveTo>
                    <a:pt x="0" y="132080"/>
                  </a:moveTo>
                  <a:cubicBezTo>
                    <a:pt x="0" y="58293"/>
                    <a:pt x="61468" y="0"/>
                    <a:pt x="135509" y="0"/>
                  </a:cubicBezTo>
                  <a:lnTo>
                    <a:pt x="21662644" y="0"/>
                  </a:lnTo>
                  <a:lnTo>
                    <a:pt x="21662644" y="25400"/>
                  </a:lnTo>
                  <a:lnTo>
                    <a:pt x="21662644" y="0"/>
                  </a:lnTo>
                  <a:cubicBezTo>
                    <a:pt x="21736684" y="0"/>
                    <a:pt x="21798153" y="58293"/>
                    <a:pt x="21798153" y="132080"/>
                  </a:cubicBezTo>
                  <a:lnTo>
                    <a:pt x="21772753" y="132080"/>
                  </a:lnTo>
                  <a:lnTo>
                    <a:pt x="21798153" y="132080"/>
                  </a:lnTo>
                  <a:lnTo>
                    <a:pt x="21798153" y="1346708"/>
                  </a:lnTo>
                  <a:lnTo>
                    <a:pt x="21772753" y="1346708"/>
                  </a:lnTo>
                  <a:lnTo>
                    <a:pt x="21798153" y="1346708"/>
                  </a:lnTo>
                  <a:cubicBezTo>
                    <a:pt x="21798153" y="1420368"/>
                    <a:pt x="21736684" y="1478788"/>
                    <a:pt x="21662644" y="1478788"/>
                  </a:cubicBezTo>
                  <a:lnTo>
                    <a:pt x="21662644" y="1453388"/>
                  </a:lnTo>
                  <a:lnTo>
                    <a:pt x="21662644" y="1478788"/>
                  </a:lnTo>
                  <a:lnTo>
                    <a:pt x="135509" y="1478788"/>
                  </a:lnTo>
                  <a:lnTo>
                    <a:pt x="135509" y="1453388"/>
                  </a:lnTo>
                  <a:lnTo>
                    <a:pt x="135509" y="1478788"/>
                  </a:lnTo>
                  <a:cubicBezTo>
                    <a:pt x="61468" y="1478661"/>
                    <a:pt x="0" y="1420368"/>
                    <a:pt x="0" y="1346708"/>
                  </a:cubicBezTo>
                  <a:lnTo>
                    <a:pt x="0" y="132080"/>
                  </a:lnTo>
                  <a:lnTo>
                    <a:pt x="25400" y="132080"/>
                  </a:lnTo>
                  <a:lnTo>
                    <a:pt x="0" y="132080"/>
                  </a:lnTo>
                  <a:moveTo>
                    <a:pt x="50800" y="132080"/>
                  </a:moveTo>
                  <a:lnTo>
                    <a:pt x="50800" y="1346708"/>
                  </a:lnTo>
                  <a:lnTo>
                    <a:pt x="25400" y="1346708"/>
                  </a:lnTo>
                  <a:lnTo>
                    <a:pt x="50800" y="1346708"/>
                  </a:lnTo>
                  <a:cubicBezTo>
                    <a:pt x="50800" y="1390777"/>
                    <a:pt x="88011" y="1427988"/>
                    <a:pt x="135509" y="1427988"/>
                  </a:cubicBezTo>
                  <a:lnTo>
                    <a:pt x="21662644" y="1427988"/>
                  </a:lnTo>
                  <a:cubicBezTo>
                    <a:pt x="21710269" y="1427988"/>
                    <a:pt x="21747353" y="1390904"/>
                    <a:pt x="21747353" y="1346708"/>
                  </a:cubicBezTo>
                  <a:lnTo>
                    <a:pt x="21747353" y="132080"/>
                  </a:lnTo>
                  <a:cubicBezTo>
                    <a:pt x="21747353" y="88011"/>
                    <a:pt x="21710142" y="50800"/>
                    <a:pt x="21662644" y="50800"/>
                  </a:cubicBezTo>
                  <a:lnTo>
                    <a:pt x="135509" y="50800"/>
                  </a:lnTo>
                  <a:lnTo>
                    <a:pt x="135509" y="25400"/>
                  </a:lnTo>
                  <a:lnTo>
                    <a:pt x="135509" y="50800"/>
                  </a:lnTo>
                  <a:cubicBezTo>
                    <a:pt x="88011" y="50800"/>
                    <a:pt x="50800" y="87884"/>
                    <a:pt x="50800" y="132080"/>
                  </a:cubicBezTo>
                  <a:close/>
                </a:path>
              </a:pathLst>
            </a:custGeom>
            <a:solidFill>
              <a:srgbClr val="D4CEC3"/>
            </a:solidFill>
          </p:spPr>
        </p:sp>
      </p:grpSp>
      <p:grpSp>
        <p:nvGrpSpPr>
          <p:cNvPr name="Group 28" id="28"/>
          <p:cNvGrpSpPr/>
          <p:nvPr/>
        </p:nvGrpSpPr>
        <p:grpSpPr>
          <a:xfrm rot="0">
            <a:off x="973188" y="4516136"/>
            <a:ext cx="16348624" cy="1109043"/>
            <a:chOff x="0" y="0"/>
            <a:chExt cx="21798166" cy="1478724"/>
          </a:xfrm>
        </p:grpSpPr>
        <p:sp>
          <p:nvSpPr>
            <p:cNvPr name="Freeform 29" id="29"/>
            <p:cNvSpPr/>
            <p:nvPr/>
          </p:nvSpPr>
          <p:spPr>
            <a:xfrm flipH="false" flipV="false" rot="0">
              <a:off x="25400" y="25400"/>
              <a:ext cx="21747353" cy="1427988"/>
            </a:xfrm>
            <a:custGeom>
              <a:avLst/>
              <a:gdLst/>
              <a:ahLst/>
              <a:cxnLst/>
              <a:rect r="r" b="b" t="t" l="l"/>
              <a:pathLst>
                <a:path h="1427988" w="21747353">
                  <a:moveTo>
                    <a:pt x="0" y="106680"/>
                  </a:moveTo>
                  <a:cubicBezTo>
                    <a:pt x="0" y="47752"/>
                    <a:pt x="49276" y="0"/>
                    <a:pt x="110109" y="0"/>
                  </a:cubicBezTo>
                  <a:lnTo>
                    <a:pt x="21637244" y="0"/>
                  </a:lnTo>
                  <a:cubicBezTo>
                    <a:pt x="21698077" y="0"/>
                    <a:pt x="21747353" y="47752"/>
                    <a:pt x="21747353" y="106680"/>
                  </a:cubicBezTo>
                  <a:lnTo>
                    <a:pt x="21747353" y="1321308"/>
                  </a:lnTo>
                  <a:cubicBezTo>
                    <a:pt x="21747353" y="1380236"/>
                    <a:pt x="21698077" y="1427988"/>
                    <a:pt x="21637244" y="1427988"/>
                  </a:cubicBezTo>
                  <a:lnTo>
                    <a:pt x="110109" y="1427988"/>
                  </a:lnTo>
                  <a:cubicBezTo>
                    <a:pt x="49276" y="1427988"/>
                    <a:pt x="0" y="1380236"/>
                    <a:pt x="0" y="1321308"/>
                  </a:cubicBezTo>
                  <a:close/>
                </a:path>
              </a:pathLst>
            </a:custGeom>
            <a:solidFill>
              <a:srgbClr val="F9F6F0"/>
            </a:solidFill>
          </p:spPr>
        </p:sp>
        <p:sp>
          <p:nvSpPr>
            <p:cNvPr name="Freeform 30" id="30"/>
            <p:cNvSpPr/>
            <p:nvPr/>
          </p:nvSpPr>
          <p:spPr>
            <a:xfrm flipH="false" flipV="false" rot="0">
              <a:off x="0" y="0"/>
              <a:ext cx="21798153" cy="1478788"/>
            </a:xfrm>
            <a:custGeom>
              <a:avLst/>
              <a:gdLst/>
              <a:ahLst/>
              <a:cxnLst/>
              <a:rect r="r" b="b" t="t" l="l"/>
              <a:pathLst>
                <a:path h="1478788" w="21798153">
                  <a:moveTo>
                    <a:pt x="0" y="132080"/>
                  </a:moveTo>
                  <a:cubicBezTo>
                    <a:pt x="0" y="58293"/>
                    <a:pt x="61468" y="0"/>
                    <a:pt x="135509" y="0"/>
                  </a:cubicBezTo>
                  <a:lnTo>
                    <a:pt x="21662644" y="0"/>
                  </a:lnTo>
                  <a:lnTo>
                    <a:pt x="21662644" y="25400"/>
                  </a:lnTo>
                  <a:lnTo>
                    <a:pt x="21662644" y="0"/>
                  </a:lnTo>
                  <a:cubicBezTo>
                    <a:pt x="21736684" y="0"/>
                    <a:pt x="21798153" y="58293"/>
                    <a:pt x="21798153" y="132080"/>
                  </a:cubicBezTo>
                  <a:lnTo>
                    <a:pt x="21772753" y="132080"/>
                  </a:lnTo>
                  <a:lnTo>
                    <a:pt x="21798153" y="132080"/>
                  </a:lnTo>
                  <a:lnTo>
                    <a:pt x="21798153" y="1346708"/>
                  </a:lnTo>
                  <a:lnTo>
                    <a:pt x="21772753" y="1346708"/>
                  </a:lnTo>
                  <a:lnTo>
                    <a:pt x="21798153" y="1346708"/>
                  </a:lnTo>
                  <a:cubicBezTo>
                    <a:pt x="21798153" y="1420368"/>
                    <a:pt x="21736684" y="1478788"/>
                    <a:pt x="21662644" y="1478788"/>
                  </a:cubicBezTo>
                  <a:lnTo>
                    <a:pt x="21662644" y="1453388"/>
                  </a:lnTo>
                  <a:lnTo>
                    <a:pt x="21662644" y="1478788"/>
                  </a:lnTo>
                  <a:lnTo>
                    <a:pt x="135509" y="1478788"/>
                  </a:lnTo>
                  <a:lnTo>
                    <a:pt x="135509" y="1453388"/>
                  </a:lnTo>
                  <a:lnTo>
                    <a:pt x="135509" y="1478788"/>
                  </a:lnTo>
                  <a:cubicBezTo>
                    <a:pt x="61468" y="1478661"/>
                    <a:pt x="0" y="1420368"/>
                    <a:pt x="0" y="1346708"/>
                  </a:cubicBezTo>
                  <a:lnTo>
                    <a:pt x="0" y="132080"/>
                  </a:lnTo>
                  <a:lnTo>
                    <a:pt x="25400" y="132080"/>
                  </a:lnTo>
                  <a:lnTo>
                    <a:pt x="0" y="132080"/>
                  </a:lnTo>
                  <a:moveTo>
                    <a:pt x="50800" y="132080"/>
                  </a:moveTo>
                  <a:lnTo>
                    <a:pt x="50800" y="1346708"/>
                  </a:lnTo>
                  <a:lnTo>
                    <a:pt x="25400" y="1346708"/>
                  </a:lnTo>
                  <a:lnTo>
                    <a:pt x="50800" y="1346708"/>
                  </a:lnTo>
                  <a:cubicBezTo>
                    <a:pt x="50800" y="1390777"/>
                    <a:pt x="88011" y="1427988"/>
                    <a:pt x="135509" y="1427988"/>
                  </a:cubicBezTo>
                  <a:lnTo>
                    <a:pt x="21662644" y="1427988"/>
                  </a:lnTo>
                  <a:cubicBezTo>
                    <a:pt x="21710269" y="1427988"/>
                    <a:pt x="21747353" y="1390904"/>
                    <a:pt x="21747353" y="1346708"/>
                  </a:cubicBezTo>
                  <a:lnTo>
                    <a:pt x="21747353" y="132080"/>
                  </a:lnTo>
                  <a:cubicBezTo>
                    <a:pt x="21747353" y="88011"/>
                    <a:pt x="21710142" y="50800"/>
                    <a:pt x="21662644" y="50800"/>
                  </a:cubicBezTo>
                  <a:lnTo>
                    <a:pt x="135509" y="50800"/>
                  </a:lnTo>
                  <a:lnTo>
                    <a:pt x="135509" y="25400"/>
                  </a:lnTo>
                  <a:lnTo>
                    <a:pt x="135509" y="50800"/>
                  </a:lnTo>
                  <a:cubicBezTo>
                    <a:pt x="88011" y="50800"/>
                    <a:pt x="50800" y="87884"/>
                    <a:pt x="50800" y="132080"/>
                  </a:cubicBezTo>
                  <a:close/>
                </a:path>
              </a:pathLst>
            </a:custGeom>
            <a:solidFill>
              <a:srgbClr val="D4CEC3"/>
            </a:solidFill>
          </p:spPr>
        </p:sp>
      </p:grpSp>
      <p:grpSp>
        <p:nvGrpSpPr>
          <p:cNvPr name="Group 31" id="31"/>
          <p:cNvGrpSpPr/>
          <p:nvPr/>
        </p:nvGrpSpPr>
        <p:grpSpPr>
          <a:xfrm rot="0">
            <a:off x="991343" y="3184474"/>
            <a:ext cx="541734" cy="541734"/>
            <a:chOff x="0" y="0"/>
            <a:chExt cx="722312" cy="722312"/>
          </a:xfrm>
        </p:grpSpPr>
        <p:sp>
          <p:nvSpPr>
            <p:cNvPr name="Freeform 32" id="32"/>
            <p:cNvSpPr/>
            <p:nvPr/>
          </p:nvSpPr>
          <p:spPr>
            <a:xfrm flipH="false" flipV="false" rot="0">
              <a:off x="0" y="0"/>
              <a:ext cx="722249" cy="722250"/>
            </a:xfrm>
            <a:custGeom>
              <a:avLst/>
              <a:gdLst/>
              <a:ahLst/>
              <a:cxnLst/>
              <a:rect r="r" b="b" t="t" l="l"/>
              <a:pathLst>
                <a:path h="722250" w="722249">
                  <a:moveTo>
                    <a:pt x="0" y="48133"/>
                  </a:moveTo>
                  <a:cubicBezTo>
                    <a:pt x="0" y="21590"/>
                    <a:pt x="21590" y="0"/>
                    <a:pt x="48133" y="0"/>
                  </a:cubicBezTo>
                  <a:lnTo>
                    <a:pt x="674116" y="0"/>
                  </a:lnTo>
                  <a:cubicBezTo>
                    <a:pt x="700659" y="0"/>
                    <a:pt x="722249" y="21590"/>
                    <a:pt x="722249" y="48133"/>
                  </a:cubicBezTo>
                  <a:lnTo>
                    <a:pt x="722249" y="674116"/>
                  </a:lnTo>
                  <a:cubicBezTo>
                    <a:pt x="722249" y="700659"/>
                    <a:pt x="700659" y="722249"/>
                    <a:pt x="674116" y="722249"/>
                  </a:cubicBezTo>
                  <a:lnTo>
                    <a:pt x="48133" y="722249"/>
                  </a:lnTo>
                  <a:cubicBezTo>
                    <a:pt x="21590" y="722376"/>
                    <a:pt x="0" y="700786"/>
                    <a:pt x="0" y="674116"/>
                  </a:cubicBezTo>
                  <a:close/>
                </a:path>
              </a:pathLst>
            </a:custGeom>
            <a:solidFill>
              <a:srgbClr val="D3C5B6"/>
            </a:solidFill>
          </p:spPr>
        </p:sp>
      </p:grpSp>
      <p:grpSp>
        <p:nvGrpSpPr>
          <p:cNvPr name="Group 33" id="33"/>
          <p:cNvGrpSpPr/>
          <p:nvPr/>
        </p:nvGrpSpPr>
        <p:grpSpPr>
          <a:xfrm rot="0">
            <a:off x="991343" y="1838030"/>
            <a:ext cx="541734" cy="541734"/>
            <a:chOff x="0" y="0"/>
            <a:chExt cx="722312" cy="722312"/>
          </a:xfrm>
        </p:grpSpPr>
        <p:sp>
          <p:nvSpPr>
            <p:cNvPr name="Freeform 34" id="34"/>
            <p:cNvSpPr/>
            <p:nvPr/>
          </p:nvSpPr>
          <p:spPr>
            <a:xfrm flipH="false" flipV="false" rot="0">
              <a:off x="0" y="0"/>
              <a:ext cx="722249" cy="722250"/>
            </a:xfrm>
            <a:custGeom>
              <a:avLst/>
              <a:gdLst/>
              <a:ahLst/>
              <a:cxnLst/>
              <a:rect r="r" b="b" t="t" l="l"/>
              <a:pathLst>
                <a:path h="722250" w="722249">
                  <a:moveTo>
                    <a:pt x="0" y="48133"/>
                  </a:moveTo>
                  <a:cubicBezTo>
                    <a:pt x="0" y="21590"/>
                    <a:pt x="21590" y="0"/>
                    <a:pt x="48133" y="0"/>
                  </a:cubicBezTo>
                  <a:lnTo>
                    <a:pt x="674116" y="0"/>
                  </a:lnTo>
                  <a:cubicBezTo>
                    <a:pt x="700659" y="0"/>
                    <a:pt x="722249" y="21590"/>
                    <a:pt x="722249" y="48133"/>
                  </a:cubicBezTo>
                  <a:lnTo>
                    <a:pt x="722249" y="674116"/>
                  </a:lnTo>
                  <a:cubicBezTo>
                    <a:pt x="722249" y="700659"/>
                    <a:pt x="700659" y="722249"/>
                    <a:pt x="674116" y="722249"/>
                  </a:cubicBezTo>
                  <a:lnTo>
                    <a:pt x="48133" y="722249"/>
                  </a:lnTo>
                  <a:cubicBezTo>
                    <a:pt x="21590" y="722376"/>
                    <a:pt x="0" y="700786"/>
                    <a:pt x="0" y="674116"/>
                  </a:cubicBezTo>
                  <a:close/>
                </a:path>
              </a:pathLst>
            </a:custGeom>
            <a:solidFill>
              <a:srgbClr val="D3C5B6"/>
            </a:solidFill>
          </p:spPr>
        </p:sp>
      </p:grpSp>
      <p:grpSp>
        <p:nvGrpSpPr>
          <p:cNvPr name="Group 35" id="35"/>
          <p:cNvGrpSpPr/>
          <p:nvPr/>
        </p:nvGrpSpPr>
        <p:grpSpPr>
          <a:xfrm rot="0">
            <a:off x="991343" y="4530928"/>
            <a:ext cx="541734" cy="541734"/>
            <a:chOff x="0" y="0"/>
            <a:chExt cx="722312" cy="722312"/>
          </a:xfrm>
        </p:grpSpPr>
        <p:sp>
          <p:nvSpPr>
            <p:cNvPr name="Freeform 36" id="36"/>
            <p:cNvSpPr/>
            <p:nvPr/>
          </p:nvSpPr>
          <p:spPr>
            <a:xfrm flipH="false" flipV="false" rot="0">
              <a:off x="0" y="0"/>
              <a:ext cx="722249" cy="722250"/>
            </a:xfrm>
            <a:custGeom>
              <a:avLst/>
              <a:gdLst/>
              <a:ahLst/>
              <a:cxnLst/>
              <a:rect r="r" b="b" t="t" l="l"/>
              <a:pathLst>
                <a:path h="722250" w="722249">
                  <a:moveTo>
                    <a:pt x="0" y="48133"/>
                  </a:moveTo>
                  <a:cubicBezTo>
                    <a:pt x="0" y="21590"/>
                    <a:pt x="21590" y="0"/>
                    <a:pt x="48133" y="0"/>
                  </a:cubicBezTo>
                  <a:lnTo>
                    <a:pt x="674116" y="0"/>
                  </a:lnTo>
                  <a:cubicBezTo>
                    <a:pt x="700659" y="0"/>
                    <a:pt x="722249" y="21590"/>
                    <a:pt x="722249" y="48133"/>
                  </a:cubicBezTo>
                  <a:lnTo>
                    <a:pt x="722249" y="674116"/>
                  </a:lnTo>
                  <a:cubicBezTo>
                    <a:pt x="722249" y="700659"/>
                    <a:pt x="700659" y="722249"/>
                    <a:pt x="674116" y="722249"/>
                  </a:cubicBezTo>
                  <a:lnTo>
                    <a:pt x="48133" y="722249"/>
                  </a:lnTo>
                  <a:cubicBezTo>
                    <a:pt x="21590" y="722376"/>
                    <a:pt x="0" y="700786"/>
                    <a:pt x="0" y="674116"/>
                  </a:cubicBezTo>
                  <a:close/>
                </a:path>
              </a:pathLst>
            </a:custGeom>
            <a:solidFill>
              <a:srgbClr val="D3C5B6"/>
            </a:solidFill>
          </p:spPr>
        </p:sp>
      </p:grpSp>
      <p:grpSp>
        <p:nvGrpSpPr>
          <p:cNvPr name="Group 37" id="37"/>
          <p:cNvGrpSpPr/>
          <p:nvPr/>
        </p:nvGrpSpPr>
        <p:grpSpPr>
          <a:xfrm rot="0">
            <a:off x="991343" y="5877373"/>
            <a:ext cx="541734" cy="541734"/>
            <a:chOff x="0" y="0"/>
            <a:chExt cx="722312" cy="722312"/>
          </a:xfrm>
        </p:grpSpPr>
        <p:sp>
          <p:nvSpPr>
            <p:cNvPr name="Freeform 38" id="38"/>
            <p:cNvSpPr/>
            <p:nvPr/>
          </p:nvSpPr>
          <p:spPr>
            <a:xfrm flipH="false" flipV="false" rot="0">
              <a:off x="0" y="0"/>
              <a:ext cx="722249" cy="722250"/>
            </a:xfrm>
            <a:custGeom>
              <a:avLst/>
              <a:gdLst/>
              <a:ahLst/>
              <a:cxnLst/>
              <a:rect r="r" b="b" t="t" l="l"/>
              <a:pathLst>
                <a:path h="722250" w="722249">
                  <a:moveTo>
                    <a:pt x="0" y="48133"/>
                  </a:moveTo>
                  <a:cubicBezTo>
                    <a:pt x="0" y="21590"/>
                    <a:pt x="21590" y="0"/>
                    <a:pt x="48133" y="0"/>
                  </a:cubicBezTo>
                  <a:lnTo>
                    <a:pt x="674116" y="0"/>
                  </a:lnTo>
                  <a:cubicBezTo>
                    <a:pt x="700659" y="0"/>
                    <a:pt x="722249" y="21590"/>
                    <a:pt x="722249" y="48133"/>
                  </a:cubicBezTo>
                  <a:lnTo>
                    <a:pt x="722249" y="674116"/>
                  </a:lnTo>
                  <a:cubicBezTo>
                    <a:pt x="722249" y="700659"/>
                    <a:pt x="700659" y="722249"/>
                    <a:pt x="674116" y="722249"/>
                  </a:cubicBezTo>
                  <a:lnTo>
                    <a:pt x="48133" y="722249"/>
                  </a:lnTo>
                  <a:cubicBezTo>
                    <a:pt x="21590" y="722376"/>
                    <a:pt x="0" y="700786"/>
                    <a:pt x="0" y="674116"/>
                  </a:cubicBezTo>
                  <a:close/>
                </a:path>
              </a:pathLst>
            </a:custGeom>
            <a:solidFill>
              <a:srgbClr val="D3C5B6"/>
            </a:solidFill>
          </p:spPr>
        </p:sp>
      </p:grpSp>
      <p:grpSp>
        <p:nvGrpSpPr>
          <p:cNvPr name="Group 39" id="39"/>
          <p:cNvGrpSpPr/>
          <p:nvPr/>
        </p:nvGrpSpPr>
        <p:grpSpPr>
          <a:xfrm rot="0">
            <a:off x="991343" y="7223817"/>
            <a:ext cx="541734" cy="541734"/>
            <a:chOff x="0" y="0"/>
            <a:chExt cx="722312" cy="722312"/>
          </a:xfrm>
        </p:grpSpPr>
        <p:sp>
          <p:nvSpPr>
            <p:cNvPr name="Freeform 40" id="40"/>
            <p:cNvSpPr/>
            <p:nvPr/>
          </p:nvSpPr>
          <p:spPr>
            <a:xfrm flipH="false" flipV="false" rot="0">
              <a:off x="0" y="0"/>
              <a:ext cx="722249" cy="722250"/>
            </a:xfrm>
            <a:custGeom>
              <a:avLst/>
              <a:gdLst/>
              <a:ahLst/>
              <a:cxnLst/>
              <a:rect r="r" b="b" t="t" l="l"/>
              <a:pathLst>
                <a:path h="722250" w="722249">
                  <a:moveTo>
                    <a:pt x="0" y="48133"/>
                  </a:moveTo>
                  <a:cubicBezTo>
                    <a:pt x="0" y="21590"/>
                    <a:pt x="21590" y="0"/>
                    <a:pt x="48133" y="0"/>
                  </a:cubicBezTo>
                  <a:lnTo>
                    <a:pt x="674116" y="0"/>
                  </a:lnTo>
                  <a:cubicBezTo>
                    <a:pt x="700659" y="0"/>
                    <a:pt x="722249" y="21590"/>
                    <a:pt x="722249" y="48133"/>
                  </a:cubicBezTo>
                  <a:lnTo>
                    <a:pt x="722249" y="674116"/>
                  </a:lnTo>
                  <a:cubicBezTo>
                    <a:pt x="722249" y="700659"/>
                    <a:pt x="700659" y="722249"/>
                    <a:pt x="674116" y="722249"/>
                  </a:cubicBezTo>
                  <a:lnTo>
                    <a:pt x="48133" y="722249"/>
                  </a:lnTo>
                  <a:cubicBezTo>
                    <a:pt x="21590" y="722376"/>
                    <a:pt x="0" y="700786"/>
                    <a:pt x="0" y="674116"/>
                  </a:cubicBezTo>
                  <a:close/>
                </a:path>
              </a:pathLst>
            </a:custGeom>
            <a:solidFill>
              <a:srgbClr val="D3C5B6"/>
            </a:solidFill>
          </p:spPr>
        </p:sp>
      </p:grpSp>
      <p:grpSp>
        <p:nvGrpSpPr>
          <p:cNvPr name="Group 41" id="41"/>
          <p:cNvGrpSpPr/>
          <p:nvPr/>
        </p:nvGrpSpPr>
        <p:grpSpPr>
          <a:xfrm rot="0">
            <a:off x="991343" y="8570271"/>
            <a:ext cx="541734" cy="541734"/>
            <a:chOff x="0" y="0"/>
            <a:chExt cx="722312" cy="722312"/>
          </a:xfrm>
        </p:grpSpPr>
        <p:sp>
          <p:nvSpPr>
            <p:cNvPr name="Freeform 42" id="42"/>
            <p:cNvSpPr/>
            <p:nvPr/>
          </p:nvSpPr>
          <p:spPr>
            <a:xfrm flipH="false" flipV="false" rot="0">
              <a:off x="0" y="0"/>
              <a:ext cx="722249" cy="722250"/>
            </a:xfrm>
            <a:custGeom>
              <a:avLst/>
              <a:gdLst/>
              <a:ahLst/>
              <a:cxnLst/>
              <a:rect r="r" b="b" t="t" l="l"/>
              <a:pathLst>
                <a:path h="722250" w="722249">
                  <a:moveTo>
                    <a:pt x="0" y="48133"/>
                  </a:moveTo>
                  <a:cubicBezTo>
                    <a:pt x="0" y="21590"/>
                    <a:pt x="21590" y="0"/>
                    <a:pt x="48133" y="0"/>
                  </a:cubicBezTo>
                  <a:lnTo>
                    <a:pt x="674116" y="0"/>
                  </a:lnTo>
                  <a:cubicBezTo>
                    <a:pt x="700659" y="0"/>
                    <a:pt x="722249" y="21590"/>
                    <a:pt x="722249" y="48133"/>
                  </a:cubicBezTo>
                  <a:lnTo>
                    <a:pt x="722249" y="674116"/>
                  </a:lnTo>
                  <a:cubicBezTo>
                    <a:pt x="722249" y="700659"/>
                    <a:pt x="700659" y="722249"/>
                    <a:pt x="674116" y="722249"/>
                  </a:cubicBezTo>
                  <a:lnTo>
                    <a:pt x="48133" y="722249"/>
                  </a:lnTo>
                  <a:cubicBezTo>
                    <a:pt x="21590" y="722376"/>
                    <a:pt x="0" y="700786"/>
                    <a:pt x="0" y="674116"/>
                  </a:cubicBezTo>
                  <a:close/>
                </a:path>
              </a:pathLst>
            </a:custGeom>
            <a:solidFill>
              <a:srgbClr val="D3C5B6"/>
            </a:solidFill>
          </p:spPr>
        </p:sp>
      </p:grpSp>
      <p:sp>
        <p:nvSpPr>
          <p:cNvPr name="Freeform 43" id="43"/>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4" id="44"/>
          <p:cNvSpPr txBox="true"/>
          <p:nvPr/>
        </p:nvSpPr>
        <p:spPr>
          <a:xfrm rot="0">
            <a:off x="1081678" y="1962198"/>
            <a:ext cx="361055" cy="422824"/>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1</a:t>
            </a:r>
          </a:p>
        </p:txBody>
      </p:sp>
      <p:sp>
        <p:nvSpPr>
          <p:cNvPr name="TextBox 45" id="45"/>
          <p:cNvSpPr txBox="true"/>
          <p:nvPr/>
        </p:nvSpPr>
        <p:spPr>
          <a:xfrm rot="0">
            <a:off x="1737417" y="1882673"/>
            <a:ext cx="3971182" cy="414185"/>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Cross‑platform application</a:t>
            </a:r>
          </a:p>
        </p:txBody>
      </p:sp>
      <p:sp>
        <p:nvSpPr>
          <p:cNvPr name="TextBox 46" id="46"/>
          <p:cNvSpPr txBox="true"/>
          <p:nvPr/>
        </p:nvSpPr>
        <p:spPr>
          <a:xfrm rot="0">
            <a:off x="1737417" y="2343302"/>
            <a:ext cx="15559240" cy="355600"/>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Build a Kotlin Multiplatform app for Android and iOS to ensure broad accessibility.</a:t>
            </a:r>
          </a:p>
        </p:txBody>
      </p:sp>
      <p:sp>
        <p:nvSpPr>
          <p:cNvPr name="TextBox 47" id="47"/>
          <p:cNvSpPr txBox="true"/>
          <p:nvPr/>
        </p:nvSpPr>
        <p:spPr>
          <a:xfrm rot="0">
            <a:off x="1081678" y="3342265"/>
            <a:ext cx="361055" cy="422824"/>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2</a:t>
            </a:r>
          </a:p>
        </p:txBody>
      </p:sp>
      <p:sp>
        <p:nvSpPr>
          <p:cNvPr name="TextBox 48" id="48"/>
          <p:cNvSpPr txBox="true"/>
          <p:nvPr/>
        </p:nvSpPr>
        <p:spPr>
          <a:xfrm rot="0">
            <a:off x="1737417" y="3229127"/>
            <a:ext cx="4383586" cy="414185"/>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Morphological analysis (Sarf)</a:t>
            </a:r>
          </a:p>
        </p:txBody>
      </p:sp>
      <p:sp>
        <p:nvSpPr>
          <p:cNvPr name="TextBox 49" id="49"/>
          <p:cNvSpPr txBox="true"/>
          <p:nvPr/>
        </p:nvSpPr>
        <p:spPr>
          <a:xfrm rot="0">
            <a:off x="1737417" y="3689747"/>
            <a:ext cx="15559240" cy="432349"/>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Deliver root extraction and verb‑conjugation analysis using CAMeL Tools.</a:t>
            </a:r>
          </a:p>
        </p:txBody>
      </p:sp>
      <p:sp>
        <p:nvSpPr>
          <p:cNvPr name="TextBox 50" id="50"/>
          <p:cNvSpPr txBox="true"/>
          <p:nvPr/>
        </p:nvSpPr>
        <p:spPr>
          <a:xfrm rot="0">
            <a:off x="1081678" y="4604671"/>
            <a:ext cx="361055" cy="422824"/>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3</a:t>
            </a:r>
          </a:p>
        </p:txBody>
      </p:sp>
      <p:sp>
        <p:nvSpPr>
          <p:cNvPr name="TextBox 51" id="51"/>
          <p:cNvSpPr txBox="true"/>
          <p:nvPr/>
        </p:nvSpPr>
        <p:spPr>
          <a:xfrm rot="0">
            <a:off x="1737417" y="4575572"/>
            <a:ext cx="3816106" cy="414185"/>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Syntactic analysis (Nahw)</a:t>
            </a:r>
          </a:p>
        </p:txBody>
      </p:sp>
      <p:sp>
        <p:nvSpPr>
          <p:cNvPr name="TextBox 52" id="52"/>
          <p:cNvSpPr txBox="true"/>
          <p:nvPr/>
        </p:nvSpPr>
        <p:spPr>
          <a:xfrm rot="0">
            <a:off x="1737417" y="5036191"/>
            <a:ext cx="15559240" cy="432349"/>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Provide grammatical parsing and i'rab using Farasa's syntactic modules.</a:t>
            </a:r>
          </a:p>
        </p:txBody>
      </p:sp>
      <p:sp>
        <p:nvSpPr>
          <p:cNvPr name="TextBox 53" id="53"/>
          <p:cNvSpPr txBox="true"/>
          <p:nvPr/>
        </p:nvSpPr>
        <p:spPr>
          <a:xfrm rot="0">
            <a:off x="1081678" y="5951115"/>
            <a:ext cx="361055" cy="422824"/>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4</a:t>
            </a:r>
          </a:p>
        </p:txBody>
      </p:sp>
      <p:sp>
        <p:nvSpPr>
          <p:cNvPr name="TextBox 54" id="54"/>
          <p:cNvSpPr txBox="true"/>
          <p:nvPr/>
        </p:nvSpPr>
        <p:spPr>
          <a:xfrm rot="0">
            <a:off x="1737417" y="5922016"/>
            <a:ext cx="3442545" cy="414185"/>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AI conversational tutor</a:t>
            </a:r>
          </a:p>
        </p:txBody>
      </p:sp>
      <p:sp>
        <p:nvSpPr>
          <p:cNvPr name="TextBox 55" id="55"/>
          <p:cNvSpPr txBox="true"/>
          <p:nvPr/>
        </p:nvSpPr>
        <p:spPr>
          <a:xfrm rot="0">
            <a:off x="1737417" y="6382645"/>
            <a:ext cx="15559240" cy="432349"/>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Integrate Gemini Flash to provide interactive tutoring, explanations and targeted feedback.</a:t>
            </a:r>
          </a:p>
        </p:txBody>
      </p:sp>
      <p:sp>
        <p:nvSpPr>
          <p:cNvPr name="TextBox 56" id="56"/>
          <p:cNvSpPr txBox="true"/>
          <p:nvPr/>
        </p:nvSpPr>
        <p:spPr>
          <a:xfrm rot="0">
            <a:off x="1081678" y="7331183"/>
            <a:ext cx="361055" cy="422824"/>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5</a:t>
            </a:r>
          </a:p>
        </p:txBody>
      </p:sp>
      <p:sp>
        <p:nvSpPr>
          <p:cNvPr name="TextBox 57" id="57"/>
          <p:cNvSpPr txBox="true"/>
          <p:nvPr/>
        </p:nvSpPr>
        <p:spPr>
          <a:xfrm rot="0">
            <a:off x="1737417" y="7268470"/>
            <a:ext cx="3835003" cy="414185"/>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Spaced Repetition System</a:t>
            </a:r>
          </a:p>
        </p:txBody>
      </p:sp>
      <p:sp>
        <p:nvSpPr>
          <p:cNvPr name="TextBox 58" id="58"/>
          <p:cNvSpPr txBox="true"/>
          <p:nvPr/>
        </p:nvSpPr>
        <p:spPr>
          <a:xfrm rot="0">
            <a:off x="1737417" y="7729090"/>
            <a:ext cx="15559240" cy="432349"/>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Implement SRS to optimise vocabulary and morphology retention across study sessions.</a:t>
            </a:r>
          </a:p>
        </p:txBody>
      </p:sp>
      <p:sp>
        <p:nvSpPr>
          <p:cNvPr name="TextBox 59" id="59"/>
          <p:cNvSpPr txBox="true"/>
          <p:nvPr/>
        </p:nvSpPr>
        <p:spPr>
          <a:xfrm rot="0">
            <a:off x="1081678" y="8694439"/>
            <a:ext cx="361055" cy="422824"/>
          </a:xfrm>
          <a:prstGeom prst="rect">
            <a:avLst/>
          </a:prstGeom>
        </p:spPr>
        <p:txBody>
          <a:bodyPr anchor="t" rtlCol="false" tIns="0" lIns="0" bIns="0" rIns="0">
            <a:spAutoFit/>
          </a:bodyPr>
          <a:lstStyle/>
          <a:p>
            <a:pPr algn="ctr">
              <a:lnSpc>
                <a:spcPts val="2812"/>
              </a:lnSpc>
            </a:pPr>
            <a:r>
              <a:rPr lang="en-US" sz="2812" b="true">
                <a:solidFill>
                  <a:srgbClr val="000000"/>
                </a:solidFill>
                <a:latin typeface="Arimo Bold"/>
                <a:ea typeface="Arimo Bold"/>
                <a:cs typeface="Arimo Bold"/>
                <a:sym typeface="Arimo Bold"/>
              </a:rPr>
              <a:t>6</a:t>
            </a:r>
          </a:p>
        </p:txBody>
      </p:sp>
      <p:sp>
        <p:nvSpPr>
          <p:cNvPr name="TextBox 60" id="60"/>
          <p:cNvSpPr txBox="true"/>
          <p:nvPr/>
        </p:nvSpPr>
        <p:spPr>
          <a:xfrm rot="0">
            <a:off x="1737417" y="8614915"/>
            <a:ext cx="3527822" cy="414185"/>
          </a:xfrm>
          <a:prstGeom prst="rect">
            <a:avLst/>
          </a:prstGeom>
        </p:spPr>
        <p:txBody>
          <a:bodyPr anchor="t" rtlCol="false" tIns="0" lIns="0" bIns="0" rIns="0">
            <a:spAutoFit/>
          </a:bodyPr>
          <a:lstStyle/>
          <a:p>
            <a:pPr algn="l">
              <a:lnSpc>
                <a:spcPts val="2937"/>
              </a:lnSpc>
            </a:pPr>
            <a:r>
              <a:rPr lang="en-US" sz="2312" b="true">
                <a:solidFill>
                  <a:srgbClr val="746558"/>
                </a:solidFill>
                <a:latin typeface="Arimo Bold"/>
                <a:ea typeface="Arimo Bold"/>
                <a:cs typeface="Arimo Bold"/>
                <a:sym typeface="Arimo Bold"/>
              </a:rPr>
              <a:t>Adaptive learning paths</a:t>
            </a:r>
          </a:p>
        </p:txBody>
      </p:sp>
      <p:sp>
        <p:nvSpPr>
          <p:cNvPr name="TextBox 61" id="61"/>
          <p:cNvSpPr txBox="true"/>
          <p:nvPr/>
        </p:nvSpPr>
        <p:spPr>
          <a:xfrm rot="0">
            <a:off x="1737417" y="9075534"/>
            <a:ext cx="15559240" cy="432349"/>
          </a:xfrm>
          <a:prstGeom prst="rect">
            <a:avLst/>
          </a:prstGeom>
        </p:spPr>
        <p:txBody>
          <a:bodyPr anchor="t" rtlCol="false" tIns="0" lIns="0" bIns="0" rIns="0">
            <a:spAutoFit/>
          </a:bodyPr>
          <a:lstStyle/>
          <a:p>
            <a:pPr algn="l">
              <a:lnSpc>
                <a:spcPts val="2749"/>
              </a:lnSpc>
            </a:pPr>
            <a:r>
              <a:rPr lang="en-US" sz="1874">
                <a:solidFill>
                  <a:srgbClr val="746558"/>
                </a:solidFill>
                <a:latin typeface="Arimo"/>
                <a:ea typeface="Arimo"/>
                <a:cs typeface="Arimo"/>
                <a:sym typeface="Arimo"/>
              </a:rPr>
              <a:t>Personalise curricula dynamically according to learner performance and diagnostics.</a:t>
            </a:r>
          </a:p>
        </p:txBody>
      </p:sp>
      <p:grpSp>
        <p:nvGrpSpPr>
          <p:cNvPr name="Group 62" id="62"/>
          <p:cNvGrpSpPr/>
          <p:nvPr/>
        </p:nvGrpSpPr>
        <p:grpSpPr>
          <a:xfrm rot="0">
            <a:off x="254042" y="510547"/>
            <a:ext cx="6947330" cy="2087030"/>
            <a:chOff x="0" y="0"/>
            <a:chExt cx="9263107" cy="2782707"/>
          </a:xfrm>
        </p:grpSpPr>
        <p:sp>
          <p:nvSpPr>
            <p:cNvPr name="TextBox 63" id="63"/>
            <p:cNvSpPr txBox="true"/>
            <p:nvPr/>
          </p:nvSpPr>
          <p:spPr>
            <a:xfrm rot="0">
              <a:off x="0" y="66675"/>
              <a:ext cx="9263107" cy="1434492"/>
            </a:xfrm>
            <a:prstGeom prst="rect">
              <a:avLst/>
            </a:prstGeom>
          </p:spPr>
          <p:txBody>
            <a:bodyPr anchor="t" rtlCol="false" tIns="0" lIns="0" bIns="0" rIns="0">
              <a:spAutoFit/>
            </a:bodyPr>
            <a:lstStyle/>
            <a:p>
              <a:pPr algn="ctr">
                <a:lnSpc>
                  <a:spcPts val="8153"/>
                </a:lnSpc>
              </a:pPr>
              <a:r>
                <a:rPr lang="en-US" sz="7412" spc="185">
                  <a:solidFill>
                    <a:srgbClr val="484237"/>
                  </a:solidFill>
                  <a:latin typeface="Forum"/>
                  <a:ea typeface="Forum"/>
                  <a:cs typeface="Forum"/>
                  <a:sym typeface="Forum"/>
                </a:rPr>
                <a:t>Core Modules</a:t>
              </a:r>
            </a:p>
          </p:txBody>
        </p:sp>
        <p:sp>
          <p:nvSpPr>
            <p:cNvPr name="TextBox 64" id="64"/>
            <p:cNvSpPr txBox="true"/>
            <p:nvPr/>
          </p:nvSpPr>
          <p:spPr>
            <a:xfrm rot="0">
              <a:off x="374282" y="2472035"/>
              <a:ext cx="4777823" cy="310672"/>
            </a:xfrm>
            <a:prstGeom prst="rect">
              <a:avLst/>
            </a:prstGeom>
          </p:spPr>
          <p:txBody>
            <a:bodyPr anchor="t" rtlCol="false" tIns="0" lIns="0" bIns="0" rIns="0">
              <a:spAutoFit/>
            </a:bodyPr>
            <a:lstStyle/>
            <a:p>
              <a:pPr algn="ctr">
                <a:lnSpc>
                  <a:spcPts val="1920"/>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grpSp>
        <p:nvGrpSpPr>
          <p:cNvPr name="Group 12" id="12"/>
          <p:cNvGrpSpPr/>
          <p:nvPr/>
        </p:nvGrpSpPr>
        <p:grpSpPr>
          <a:xfrm rot="0">
            <a:off x="987476" y="2030616"/>
            <a:ext cx="16313048" cy="6743252"/>
            <a:chOff x="0" y="0"/>
            <a:chExt cx="21750731" cy="8991003"/>
          </a:xfrm>
        </p:grpSpPr>
        <p:sp>
          <p:nvSpPr>
            <p:cNvPr name="Freeform 13" id="13"/>
            <p:cNvSpPr/>
            <p:nvPr/>
          </p:nvSpPr>
          <p:spPr>
            <a:xfrm flipH="false" flipV="false" rot="0">
              <a:off x="0" y="0"/>
              <a:ext cx="21750782" cy="8990965"/>
            </a:xfrm>
            <a:custGeom>
              <a:avLst/>
              <a:gdLst/>
              <a:ahLst/>
              <a:cxnLst/>
              <a:rect r="r" b="b" t="t" l="l"/>
              <a:pathLst>
                <a:path h="8990965" w="21750782">
                  <a:moveTo>
                    <a:pt x="0" y="60198"/>
                  </a:moveTo>
                  <a:cubicBezTo>
                    <a:pt x="0" y="26924"/>
                    <a:pt x="26924" y="0"/>
                    <a:pt x="60325" y="0"/>
                  </a:cubicBezTo>
                  <a:lnTo>
                    <a:pt x="21690457" y="0"/>
                  </a:lnTo>
                  <a:lnTo>
                    <a:pt x="21690457" y="6350"/>
                  </a:lnTo>
                  <a:lnTo>
                    <a:pt x="21690457" y="0"/>
                  </a:lnTo>
                  <a:cubicBezTo>
                    <a:pt x="21723731" y="0"/>
                    <a:pt x="21750782" y="26924"/>
                    <a:pt x="21750782" y="60198"/>
                  </a:cubicBezTo>
                  <a:lnTo>
                    <a:pt x="21744432" y="60198"/>
                  </a:lnTo>
                  <a:lnTo>
                    <a:pt x="21750782" y="60198"/>
                  </a:lnTo>
                  <a:lnTo>
                    <a:pt x="21750782" y="8930767"/>
                  </a:lnTo>
                  <a:lnTo>
                    <a:pt x="21744432" y="8930767"/>
                  </a:lnTo>
                  <a:lnTo>
                    <a:pt x="21750782" y="8930767"/>
                  </a:lnTo>
                  <a:cubicBezTo>
                    <a:pt x="21750782" y="8964041"/>
                    <a:pt x="21723858" y="8990965"/>
                    <a:pt x="21690457" y="8990965"/>
                  </a:cubicBezTo>
                  <a:lnTo>
                    <a:pt x="21690457" y="8984615"/>
                  </a:lnTo>
                  <a:lnTo>
                    <a:pt x="21690457" y="8990965"/>
                  </a:lnTo>
                  <a:lnTo>
                    <a:pt x="60325" y="8990965"/>
                  </a:lnTo>
                  <a:lnTo>
                    <a:pt x="60325" y="8984615"/>
                  </a:lnTo>
                  <a:lnTo>
                    <a:pt x="60325" y="8990965"/>
                  </a:lnTo>
                  <a:cubicBezTo>
                    <a:pt x="27051" y="8990965"/>
                    <a:pt x="0" y="8964041"/>
                    <a:pt x="0" y="8930767"/>
                  </a:cubicBezTo>
                  <a:lnTo>
                    <a:pt x="0" y="60198"/>
                  </a:lnTo>
                  <a:lnTo>
                    <a:pt x="6350" y="60198"/>
                  </a:lnTo>
                  <a:lnTo>
                    <a:pt x="0" y="60198"/>
                  </a:lnTo>
                  <a:moveTo>
                    <a:pt x="12700" y="60198"/>
                  </a:moveTo>
                  <a:lnTo>
                    <a:pt x="12700" y="8930767"/>
                  </a:lnTo>
                  <a:lnTo>
                    <a:pt x="6350" y="8930767"/>
                  </a:lnTo>
                  <a:lnTo>
                    <a:pt x="12700" y="8930767"/>
                  </a:lnTo>
                  <a:cubicBezTo>
                    <a:pt x="12700" y="8957056"/>
                    <a:pt x="34036" y="8978265"/>
                    <a:pt x="60325" y="8978265"/>
                  </a:cubicBezTo>
                  <a:lnTo>
                    <a:pt x="21690457" y="8978265"/>
                  </a:lnTo>
                  <a:cubicBezTo>
                    <a:pt x="21716746" y="8978265"/>
                    <a:pt x="21738082" y="8956929"/>
                    <a:pt x="21738082" y="8930767"/>
                  </a:cubicBezTo>
                  <a:lnTo>
                    <a:pt x="21738082" y="60198"/>
                  </a:lnTo>
                  <a:cubicBezTo>
                    <a:pt x="21738082" y="33909"/>
                    <a:pt x="21716746" y="12700"/>
                    <a:pt x="21690457" y="12700"/>
                  </a:cubicBezTo>
                  <a:lnTo>
                    <a:pt x="60325" y="12700"/>
                  </a:lnTo>
                  <a:lnTo>
                    <a:pt x="60325" y="6350"/>
                  </a:lnTo>
                  <a:lnTo>
                    <a:pt x="60325" y="12700"/>
                  </a:lnTo>
                  <a:cubicBezTo>
                    <a:pt x="34036" y="12700"/>
                    <a:pt x="12700" y="34036"/>
                    <a:pt x="12700" y="60198"/>
                  </a:cubicBezTo>
                  <a:close/>
                </a:path>
              </a:pathLst>
            </a:custGeom>
            <a:solidFill>
              <a:srgbClr val="000000">
                <a:alpha val="392"/>
              </a:srgbClr>
            </a:solidFill>
          </p:spPr>
        </p:sp>
      </p:grpSp>
      <p:grpSp>
        <p:nvGrpSpPr>
          <p:cNvPr name="Group 14" id="14"/>
          <p:cNvGrpSpPr/>
          <p:nvPr/>
        </p:nvGrpSpPr>
        <p:grpSpPr>
          <a:xfrm rot="0">
            <a:off x="1001763" y="2044903"/>
            <a:ext cx="16284473" cy="746074"/>
            <a:chOff x="0" y="0"/>
            <a:chExt cx="21712631" cy="994766"/>
          </a:xfrm>
        </p:grpSpPr>
        <p:sp>
          <p:nvSpPr>
            <p:cNvPr name="Freeform 15" id="15"/>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BFA486"/>
            </a:solidFill>
          </p:spPr>
        </p:sp>
      </p:grpSp>
      <p:grpSp>
        <p:nvGrpSpPr>
          <p:cNvPr name="Group 16" id="16"/>
          <p:cNvGrpSpPr/>
          <p:nvPr/>
        </p:nvGrpSpPr>
        <p:grpSpPr>
          <a:xfrm rot="0">
            <a:off x="1001763" y="2790977"/>
            <a:ext cx="16284473" cy="746074"/>
            <a:chOff x="0" y="0"/>
            <a:chExt cx="21712631" cy="994766"/>
          </a:xfrm>
        </p:grpSpPr>
        <p:sp>
          <p:nvSpPr>
            <p:cNvPr name="Freeform 17" id="17"/>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000000">
                <a:alpha val="0"/>
              </a:srgbClr>
            </a:solidFill>
          </p:spPr>
        </p:sp>
      </p:grpSp>
      <p:sp>
        <p:nvSpPr>
          <p:cNvPr name="Freeform 18" id="18"/>
          <p:cNvSpPr/>
          <p:nvPr/>
        </p:nvSpPr>
        <p:spPr>
          <a:xfrm flipH="false" flipV="false" rot="5400000">
            <a:off x="0" y="-1249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9" id="19"/>
          <p:cNvGrpSpPr/>
          <p:nvPr/>
        </p:nvGrpSpPr>
        <p:grpSpPr>
          <a:xfrm rot="0">
            <a:off x="1001763" y="3537052"/>
            <a:ext cx="16284473" cy="746074"/>
            <a:chOff x="0" y="0"/>
            <a:chExt cx="21712631" cy="994766"/>
          </a:xfrm>
        </p:grpSpPr>
        <p:sp>
          <p:nvSpPr>
            <p:cNvPr name="Freeform 20" id="20"/>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FFFFFF">
                <a:alpha val="0"/>
              </a:srgbClr>
            </a:solidFill>
          </p:spPr>
        </p:sp>
      </p:grpSp>
      <p:grpSp>
        <p:nvGrpSpPr>
          <p:cNvPr name="Group 21" id="21"/>
          <p:cNvGrpSpPr/>
          <p:nvPr/>
        </p:nvGrpSpPr>
        <p:grpSpPr>
          <a:xfrm rot="0">
            <a:off x="1001763" y="4283126"/>
            <a:ext cx="16284473" cy="746074"/>
            <a:chOff x="0" y="0"/>
            <a:chExt cx="21712631" cy="994766"/>
          </a:xfrm>
        </p:grpSpPr>
        <p:sp>
          <p:nvSpPr>
            <p:cNvPr name="Freeform 22" id="22"/>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000000">
                <a:alpha val="0"/>
              </a:srgbClr>
            </a:solidFill>
          </p:spPr>
        </p:sp>
      </p:grpSp>
      <p:grpSp>
        <p:nvGrpSpPr>
          <p:cNvPr name="Group 23" id="23"/>
          <p:cNvGrpSpPr/>
          <p:nvPr/>
        </p:nvGrpSpPr>
        <p:grpSpPr>
          <a:xfrm rot="0">
            <a:off x="1001763" y="5029200"/>
            <a:ext cx="16284473" cy="746074"/>
            <a:chOff x="0" y="0"/>
            <a:chExt cx="21712631" cy="994766"/>
          </a:xfrm>
        </p:grpSpPr>
        <p:sp>
          <p:nvSpPr>
            <p:cNvPr name="Freeform 24" id="24"/>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FFFFFF">
                <a:alpha val="0"/>
              </a:srgbClr>
            </a:solidFill>
          </p:spPr>
        </p:sp>
      </p:grpSp>
      <p:grpSp>
        <p:nvGrpSpPr>
          <p:cNvPr name="Group 25" id="25"/>
          <p:cNvGrpSpPr/>
          <p:nvPr/>
        </p:nvGrpSpPr>
        <p:grpSpPr>
          <a:xfrm rot="0">
            <a:off x="1001763" y="5775274"/>
            <a:ext cx="16284473" cy="746074"/>
            <a:chOff x="0" y="0"/>
            <a:chExt cx="21712631" cy="994766"/>
          </a:xfrm>
        </p:grpSpPr>
        <p:sp>
          <p:nvSpPr>
            <p:cNvPr name="Freeform 26" id="26"/>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000000">
                <a:alpha val="0"/>
              </a:srgbClr>
            </a:solidFill>
          </p:spPr>
        </p:sp>
      </p:grpSp>
      <p:grpSp>
        <p:nvGrpSpPr>
          <p:cNvPr name="Group 27" id="27"/>
          <p:cNvGrpSpPr/>
          <p:nvPr/>
        </p:nvGrpSpPr>
        <p:grpSpPr>
          <a:xfrm rot="0">
            <a:off x="1001763" y="6521348"/>
            <a:ext cx="16284473" cy="746074"/>
            <a:chOff x="0" y="0"/>
            <a:chExt cx="21712631" cy="994766"/>
          </a:xfrm>
        </p:grpSpPr>
        <p:sp>
          <p:nvSpPr>
            <p:cNvPr name="Freeform 28" id="28"/>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FFFFFF">
                <a:alpha val="0"/>
              </a:srgbClr>
            </a:solidFill>
          </p:spPr>
        </p:sp>
      </p:grpSp>
      <p:grpSp>
        <p:nvGrpSpPr>
          <p:cNvPr name="Group 29" id="29"/>
          <p:cNvGrpSpPr/>
          <p:nvPr/>
        </p:nvGrpSpPr>
        <p:grpSpPr>
          <a:xfrm rot="0">
            <a:off x="1001763" y="7267423"/>
            <a:ext cx="16284473" cy="746074"/>
            <a:chOff x="0" y="0"/>
            <a:chExt cx="21712631" cy="994766"/>
          </a:xfrm>
        </p:grpSpPr>
        <p:sp>
          <p:nvSpPr>
            <p:cNvPr name="Freeform 30" id="30"/>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000000">
                <a:alpha val="0"/>
              </a:srgbClr>
            </a:solidFill>
          </p:spPr>
        </p:sp>
      </p:grpSp>
      <p:grpSp>
        <p:nvGrpSpPr>
          <p:cNvPr name="Group 31" id="31"/>
          <p:cNvGrpSpPr/>
          <p:nvPr/>
        </p:nvGrpSpPr>
        <p:grpSpPr>
          <a:xfrm rot="0">
            <a:off x="1001763" y="8013497"/>
            <a:ext cx="16284473" cy="746074"/>
            <a:chOff x="0" y="0"/>
            <a:chExt cx="21712631" cy="994766"/>
          </a:xfrm>
        </p:grpSpPr>
        <p:sp>
          <p:nvSpPr>
            <p:cNvPr name="Freeform 32" id="32"/>
            <p:cNvSpPr/>
            <p:nvPr/>
          </p:nvSpPr>
          <p:spPr>
            <a:xfrm flipH="false" flipV="false" rot="0">
              <a:off x="0" y="0"/>
              <a:ext cx="21712682" cy="994791"/>
            </a:xfrm>
            <a:custGeom>
              <a:avLst/>
              <a:gdLst/>
              <a:ahLst/>
              <a:cxnLst/>
              <a:rect r="r" b="b" t="t" l="l"/>
              <a:pathLst>
                <a:path h="994791" w="21712682">
                  <a:moveTo>
                    <a:pt x="0" y="0"/>
                  </a:moveTo>
                  <a:lnTo>
                    <a:pt x="21712682" y="0"/>
                  </a:lnTo>
                  <a:lnTo>
                    <a:pt x="21712682" y="994791"/>
                  </a:lnTo>
                  <a:lnTo>
                    <a:pt x="0" y="994791"/>
                  </a:lnTo>
                  <a:close/>
                </a:path>
              </a:pathLst>
            </a:custGeom>
            <a:solidFill>
              <a:srgbClr val="FFFFFF">
                <a:alpha val="0"/>
              </a:srgbClr>
            </a:solidFill>
          </p:spPr>
        </p:sp>
      </p:grpSp>
      <p:sp>
        <p:nvSpPr>
          <p:cNvPr name="TextBox 33" id="33"/>
          <p:cNvSpPr txBox="true"/>
          <p:nvPr/>
        </p:nvSpPr>
        <p:spPr>
          <a:xfrm rot="0">
            <a:off x="1271140" y="2122141"/>
            <a:ext cx="5970537" cy="505863"/>
          </a:xfrm>
          <a:prstGeom prst="rect">
            <a:avLst/>
          </a:prstGeom>
        </p:spPr>
        <p:txBody>
          <a:bodyPr anchor="t" rtlCol="false" tIns="0" lIns="0" bIns="0" rIns="0">
            <a:spAutoFit/>
          </a:bodyPr>
          <a:lstStyle/>
          <a:p>
            <a:pPr algn="l">
              <a:lnSpc>
                <a:spcPts val="3249"/>
              </a:lnSpc>
            </a:pPr>
            <a:r>
              <a:rPr lang="en-US" sz="2062" b="true">
                <a:solidFill>
                  <a:srgbClr val="FFFFFF"/>
                </a:solidFill>
                <a:latin typeface="Arimo Bold"/>
                <a:ea typeface="Arimo Bold"/>
                <a:cs typeface="Arimo Bold"/>
                <a:sym typeface="Arimo Bold"/>
              </a:rPr>
              <a:t>Component</a:t>
            </a:r>
          </a:p>
        </p:txBody>
      </p:sp>
      <p:sp>
        <p:nvSpPr>
          <p:cNvPr name="TextBox 34" id="34"/>
          <p:cNvSpPr txBox="true"/>
          <p:nvPr/>
        </p:nvSpPr>
        <p:spPr>
          <a:xfrm rot="0">
            <a:off x="7789659" y="2122141"/>
            <a:ext cx="9227344" cy="505863"/>
          </a:xfrm>
          <a:prstGeom prst="rect">
            <a:avLst/>
          </a:prstGeom>
        </p:spPr>
        <p:txBody>
          <a:bodyPr anchor="t" rtlCol="false" tIns="0" lIns="0" bIns="0" rIns="0">
            <a:spAutoFit/>
          </a:bodyPr>
          <a:lstStyle/>
          <a:p>
            <a:pPr algn="l">
              <a:lnSpc>
                <a:spcPts val="3249"/>
              </a:lnSpc>
            </a:pPr>
            <a:r>
              <a:rPr lang="en-US" sz="2062" b="true">
                <a:solidFill>
                  <a:srgbClr val="FFFFFF"/>
                </a:solidFill>
                <a:latin typeface="Arimo Bold"/>
                <a:ea typeface="Arimo Bold"/>
                <a:cs typeface="Arimo Bold"/>
                <a:sym typeface="Arimo Bold"/>
              </a:rPr>
              <a:t>Technology</a:t>
            </a:r>
          </a:p>
        </p:txBody>
      </p:sp>
      <p:sp>
        <p:nvSpPr>
          <p:cNvPr name="TextBox 35" id="35"/>
          <p:cNvSpPr txBox="true"/>
          <p:nvPr/>
        </p:nvSpPr>
        <p:spPr>
          <a:xfrm rot="0">
            <a:off x="1271140" y="2868216"/>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Frontend</a:t>
            </a:r>
          </a:p>
        </p:txBody>
      </p:sp>
      <p:sp>
        <p:nvSpPr>
          <p:cNvPr name="TextBox 36" id="36"/>
          <p:cNvSpPr txBox="true"/>
          <p:nvPr/>
        </p:nvSpPr>
        <p:spPr>
          <a:xfrm rot="0">
            <a:off x="7789659" y="2868216"/>
            <a:ext cx="9227344"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Kotlin Multiplatform (Android, iOS)</a:t>
            </a:r>
          </a:p>
        </p:txBody>
      </p:sp>
      <p:sp>
        <p:nvSpPr>
          <p:cNvPr name="TextBox 37" id="37"/>
          <p:cNvSpPr txBox="true"/>
          <p:nvPr/>
        </p:nvSpPr>
        <p:spPr>
          <a:xfrm rot="0">
            <a:off x="1271140" y="3614290"/>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NLP — Morphology</a:t>
            </a:r>
          </a:p>
        </p:txBody>
      </p:sp>
      <p:sp>
        <p:nvSpPr>
          <p:cNvPr name="TextBox 38" id="38"/>
          <p:cNvSpPr txBox="true"/>
          <p:nvPr/>
        </p:nvSpPr>
        <p:spPr>
          <a:xfrm rot="0">
            <a:off x="7789659" y="3614290"/>
            <a:ext cx="9227344"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CAMeL Tools (Python)</a:t>
            </a:r>
          </a:p>
        </p:txBody>
      </p:sp>
      <p:sp>
        <p:nvSpPr>
          <p:cNvPr name="TextBox 39" id="39"/>
          <p:cNvSpPr txBox="true"/>
          <p:nvPr/>
        </p:nvSpPr>
        <p:spPr>
          <a:xfrm rot="0">
            <a:off x="1271140" y="4360364"/>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NLP — Syntax</a:t>
            </a:r>
          </a:p>
        </p:txBody>
      </p:sp>
      <p:sp>
        <p:nvSpPr>
          <p:cNvPr name="TextBox 40" id="40"/>
          <p:cNvSpPr txBox="true"/>
          <p:nvPr/>
        </p:nvSpPr>
        <p:spPr>
          <a:xfrm rot="0">
            <a:off x="7789659" y="4360364"/>
            <a:ext cx="9227344" cy="396875"/>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Gemini + RAG</a:t>
            </a:r>
          </a:p>
        </p:txBody>
      </p:sp>
      <p:sp>
        <p:nvSpPr>
          <p:cNvPr name="TextBox 41" id="41"/>
          <p:cNvSpPr txBox="true"/>
          <p:nvPr/>
        </p:nvSpPr>
        <p:spPr>
          <a:xfrm rot="0">
            <a:off x="1271140" y="5106438"/>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Quranic Corpus Microservice</a:t>
            </a:r>
          </a:p>
        </p:txBody>
      </p:sp>
      <p:sp>
        <p:nvSpPr>
          <p:cNvPr name="TextBox 42" id="42"/>
          <p:cNvSpPr txBox="true"/>
          <p:nvPr/>
        </p:nvSpPr>
        <p:spPr>
          <a:xfrm rot="0">
            <a:off x="7789659" y="5106438"/>
            <a:ext cx="9227344" cy="505863"/>
          </a:xfrm>
          <a:prstGeom prst="rect">
            <a:avLst/>
          </a:prstGeom>
        </p:spPr>
        <p:txBody>
          <a:bodyPr anchor="t" rtlCol="false" tIns="0" lIns="0" bIns="0" rIns="0">
            <a:spAutoFit/>
          </a:bodyPr>
          <a:lstStyle/>
          <a:p>
            <a:pPr algn="l">
              <a:lnSpc>
                <a:spcPts val="3249"/>
              </a:lnSpc>
            </a:pPr>
            <a:r>
              <a:rPr lang="en-US" sz="2062" u="sng">
                <a:solidFill>
                  <a:srgbClr val="7F674D"/>
                </a:solidFill>
                <a:latin typeface="Arimo"/>
                <a:ea typeface="Arimo"/>
                <a:cs typeface="Arimo"/>
                <a:sym typeface="Arimo"/>
                <a:hlinkClick r:id="rId8" tooltip="http://corpus.quran.com"/>
              </a:rPr>
              <a:t>corpus.quran.com</a:t>
            </a:r>
            <a:r>
              <a:rPr lang="en-US" sz="2062">
                <a:solidFill>
                  <a:srgbClr val="746558"/>
                </a:solidFill>
                <a:latin typeface="Arimo"/>
                <a:ea typeface="Arimo"/>
                <a:cs typeface="Arimo"/>
                <a:sym typeface="Arimo"/>
              </a:rPr>
              <a:t> API (Java)</a:t>
            </a:r>
          </a:p>
        </p:txBody>
      </p:sp>
      <p:sp>
        <p:nvSpPr>
          <p:cNvPr name="TextBox 43" id="43"/>
          <p:cNvSpPr txBox="true"/>
          <p:nvPr/>
        </p:nvSpPr>
        <p:spPr>
          <a:xfrm rot="0">
            <a:off x="1271140" y="5852522"/>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AI Model</a:t>
            </a:r>
          </a:p>
        </p:txBody>
      </p:sp>
      <p:sp>
        <p:nvSpPr>
          <p:cNvPr name="TextBox 44" id="44"/>
          <p:cNvSpPr txBox="true"/>
          <p:nvPr/>
        </p:nvSpPr>
        <p:spPr>
          <a:xfrm rot="0">
            <a:off x="7789659" y="5852522"/>
            <a:ext cx="9227344"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Gemini Flash (interactive tutoring)</a:t>
            </a:r>
          </a:p>
        </p:txBody>
      </p:sp>
      <p:sp>
        <p:nvSpPr>
          <p:cNvPr name="TextBox 45" id="45"/>
          <p:cNvSpPr txBox="true"/>
          <p:nvPr/>
        </p:nvSpPr>
        <p:spPr>
          <a:xfrm rot="0">
            <a:off x="1271140" y="6598596"/>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Database</a:t>
            </a:r>
          </a:p>
        </p:txBody>
      </p:sp>
      <p:sp>
        <p:nvSpPr>
          <p:cNvPr name="TextBox 46" id="46"/>
          <p:cNvSpPr txBox="true"/>
          <p:nvPr/>
        </p:nvSpPr>
        <p:spPr>
          <a:xfrm rot="0">
            <a:off x="7789659" y="6598596"/>
            <a:ext cx="9227344"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PostgreSQL</a:t>
            </a:r>
          </a:p>
        </p:txBody>
      </p:sp>
      <p:sp>
        <p:nvSpPr>
          <p:cNvPr name="TextBox 47" id="47"/>
          <p:cNvSpPr txBox="true"/>
          <p:nvPr/>
        </p:nvSpPr>
        <p:spPr>
          <a:xfrm rot="0">
            <a:off x="1271140" y="7344670"/>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Cache</a:t>
            </a:r>
          </a:p>
        </p:txBody>
      </p:sp>
      <p:sp>
        <p:nvSpPr>
          <p:cNvPr name="TextBox 48" id="48"/>
          <p:cNvSpPr txBox="true"/>
          <p:nvPr/>
        </p:nvSpPr>
        <p:spPr>
          <a:xfrm rot="0">
            <a:off x="7789659" y="7344670"/>
            <a:ext cx="9227344"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Redis</a:t>
            </a:r>
          </a:p>
        </p:txBody>
      </p:sp>
      <p:sp>
        <p:nvSpPr>
          <p:cNvPr name="TextBox 49" id="49"/>
          <p:cNvSpPr txBox="true"/>
          <p:nvPr/>
        </p:nvSpPr>
        <p:spPr>
          <a:xfrm rot="0">
            <a:off x="1271140" y="8090745"/>
            <a:ext cx="5970537"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Infrastructure</a:t>
            </a:r>
          </a:p>
        </p:txBody>
      </p:sp>
      <p:sp>
        <p:nvSpPr>
          <p:cNvPr name="TextBox 50" id="50"/>
          <p:cNvSpPr txBox="true"/>
          <p:nvPr/>
        </p:nvSpPr>
        <p:spPr>
          <a:xfrm rot="0">
            <a:off x="7789659" y="8090745"/>
            <a:ext cx="9227344" cy="505863"/>
          </a:xfrm>
          <a:prstGeom prst="rect">
            <a:avLst/>
          </a:prstGeom>
        </p:spPr>
        <p:txBody>
          <a:bodyPr anchor="t" rtlCol="false" tIns="0" lIns="0" bIns="0" rIns="0">
            <a:spAutoFit/>
          </a:bodyPr>
          <a:lstStyle/>
          <a:p>
            <a:pPr algn="l">
              <a:lnSpc>
                <a:spcPts val="3249"/>
              </a:lnSpc>
            </a:pPr>
            <a:r>
              <a:rPr lang="en-US" sz="2062">
                <a:solidFill>
                  <a:srgbClr val="746558"/>
                </a:solidFill>
                <a:latin typeface="Arimo"/>
                <a:ea typeface="Arimo"/>
                <a:cs typeface="Arimo"/>
                <a:sym typeface="Arimo"/>
              </a:rPr>
              <a:t>Docker, Nginx, GitHub Actions</a:t>
            </a:r>
          </a:p>
        </p:txBody>
      </p:sp>
      <p:grpSp>
        <p:nvGrpSpPr>
          <p:cNvPr name="Group 51" id="51"/>
          <p:cNvGrpSpPr/>
          <p:nvPr/>
        </p:nvGrpSpPr>
        <p:grpSpPr>
          <a:xfrm rot="0">
            <a:off x="763782" y="610301"/>
            <a:ext cx="7397081" cy="2602901"/>
            <a:chOff x="0" y="0"/>
            <a:chExt cx="9862774" cy="3470535"/>
          </a:xfrm>
        </p:grpSpPr>
        <p:sp>
          <p:nvSpPr>
            <p:cNvPr name="TextBox 52" id="52"/>
            <p:cNvSpPr txBox="true"/>
            <p:nvPr/>
          </p:nvSpPr>
          <p:spPr>
            <a:xfrm rot="0">
              <a:off x="0" y="66675"/>
              <a:ext cx="9862774" cy="1434492"/>
            </a:xfrm>
            <a:prstGeom prst="rect">
              <a:avLst/>
            </a:prstGeom>
          </p:spPr>
          <p:txBody>
            <a:bodyPr anchor="t" rtlCol="false" tIns="0" lIns="0" bIns="0" rIns="0">
              <a:spAutoFit/>
            </a:bodyPr>
            <a:lstStyle/>
            <a:p>
              <a:pPr algn="ctr">
                <a:lnSpc>
                  <a:spcPts val="8153"/>
                </a:lnSpc>
              </a:pPr>
              <a:r>
                <a:rPr lang="en-US" sz="7412" spc="185">
                  <a:solidFill>
                    <a:srgbClr val="484237"/>
                  </a:solidFill>
                  <a:latin typeface="Forum"/>
                  <a:ea typeface="Forum"/>
                  <a:cs typeface="Forum"/>
                  <a:sym typeface="Forum"/>
                </a:rPr>
                <a:t>Technology Stack</a:t>
              </a:r>
            </a:p>
          </p:txBody>
        </p:sp>
        <p:sp>
          <p:nvSpPr>
            <p:cNvPr name="TextBox 53" id="53"/>
            <p:cNvSpPr txBox="true"/>
            <p:nvPr/>
          </p:nvSpPr>
          <p:spPr>
            <a:xfrm rot="0">
              <a:off x="293860" y="3159863"/>
              <a:ext cx="3751213" cy="310672"/>
            </a:xfrm>
            <a:prstGeom prst="rect">
              <a:avLst/>
            </a:prstGeom>
          </p:spPr>
          <p:txBody>
            <a:bodyPr anchor="t" rtlCol="false" tIns="0" lIns="0" bIns="0" rIns="0">
              <a:spAutoFit/>
            </a:bodyPr>
            <a:lstStyle/>
            <a:p>
              <a:pPr algn="ctr">
                <a:lnSpc>
                  <a:spcPts val="1920"/>
                </a:lnSpc>
              </a:pPr>
            </a:p>
          </p:txBody>
        </p:sp>
      </p:grpSp>
      <p:sp>
        <p:nvSpPr>
          <p:cNvPr name="Freeform 54" id="54"/>
          <p:cNvSpPr/>
          <p:nvPr/>
        </p:nvSpPr>
        <p:spPr>
          <a:xfrm flipH="false" flipV="false" rot="0">
            <a:off x="16049015" y="-187370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sp>
        <p:nvSpPr>
          <p:cNvPr name="Freeform 12" id="12"/>
          <p:cNvSpPr/>
          <p:nvPr/>
        </p:nvSpPr>
        <p:spPr>
          <a:xfrm flipH="false" flipV="false" rot="0">
            <a:off x="2611588" y="3540733"/>
            <a:ext cx="5074305" cy="4114800"/>
          </a:xfrm>
          <a:custGeom>
            <a:avLst/>
            <a:gdLst/>
            <a:ahLst/>
            <a:cxnLst/>
            <a:rect r="r" b="b" t="t" l="l"/>
            <a:pathLst>
              <a:path h="4114800" w="5074305">
                <a:moveTo>
                  <a:pt x="0" y="0"/>
                </a:moveTo>
                <a:lnTo>
                  <a:pt x="5074305" y="0"/>
                </a:lnTo>
                <a:lnTo>
                  <a:pt x="5074305"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926031" y="876510"/>
            <a:ext cx="2745694" cy="4114800"/>
          </a:xfrm>
          <a:custGeom>
            <a:avLst/>
            <a:gdLst/>
            <a:ahLst/>
            <a:cxnLst/>
            <a:rect r="r" b="b" t="t" l="l"/>
            <a:pathLst>
              <a:path h="4114800" w="2745694">
                <a:moveTo>
                  <a:pt x="0" y="0"/>
                </a:moveTo>
                <a:lnTo>
                  <a:pt x="2745693" y="0"/>
                </a:lnTo>
                <a:lnTo>
                  <a:pt x="274569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6267303" y="6172200"/>
            <a:ext cx="5422753" cy="4114800"/>
          </a:xfrm>
          <a:custGeom>
            <a:avLst/>
            <a:gdLst/>
            <a:ahLst/>
            <a:cxnLst/>
            <a:rect r="r" b="b" t="t" l="l"/>
            <a:pathLst>
              <a:path h="4114800" w="5422753">
                <a:moveTo>
                  <a:pt x="0" y="0"/>
                </a:moveTo>
                <a:lnTo>
                  <a:pt x="5422752" y="0"/>
                </a:lnTo>
                <a:lnTo>
                  <a:pt x="542275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3668258" y="4991310"/>
            <a:ext cx="10620842" cy="3118772"/>
            <a:chOff x="0" y="0"/>
            <a:chExt cx="14161122" cy="4158363"/>
          </a:xfrm>
        </p:grpSpPr>
        <p:sp>
          <p:nvSpPr>
            <p:cNvPr name="TextBox 16" id="16"/>
            <p:cNvSpPr txBox="true"/>
            <p:nvPr/>
          </p:nvSpPr>
          <p:spPr>
            <a:xfrm rot="0">
              <a:off x="0" y="66675"/>
              <a:ext cx="14161122" cy="1434492"/>
            </a:xfrm>
            <a:prstGeom prst="rect">
              <a:avLst/>
            </a:prstGeom>
          </p:spPr>
          <p:txBody>
            <a:bodyPr anchor="t" rtlCol="false" tIns="0" lIns="0" bIns="0" rIns="0">
              <a:spAutoFit/>
            </a:bodyPr>
            <a:lstStyle/>
            <a:p>
              <a:pPr algn="ctr">
                <a:lnSpc>
                  <a:spcPts val="8153"/>
                </a:lnSpc>
              </a:pPr>
              <a:r>
                <a:rPr lang="en-US" sz="7412" spc="185">
                  <a:solidFill>
                    <a:srgbClr val="484237"/>
                  </a:solidFill>
                  <a:latin typeface="Forum"/>
                  <a:ea typeface="Forum"/>
                  <a:cs typeface="Forum"/>
                  <a:sym typeface="Forum"/>
                </a:rPr>
                <a:t>Questions &amp; Discussion</a:t>
              </a:r>
            </a:p>
          </p:txBody>
        </p:sp>
        <p:sp>
          <p:nvSpPr>
            <p:cNvPr name="TextBox 17" id="17"/>
            <p:cNvSpPr txBox="true"/>
            <p:nvPr/>
          </p:nvSpPr>
          <p:spPr>
            <a:xfrm rot="0">
              <a:off x="293860" y="3847691"/>
              <a:ext cx="3751213" cy="310672"/>
            </a:xfrm>
            <a:prstGeom prst="rect">
              <a:avLst/>
            </a:prstGeom>
          </p:spPr>
          <p:txBody>
            <a:bodyPr anchor="t" rtlCol="false" tIns="0" lIns="0" bIns="0" rIns="0">
              <a:spAutoFit/>
            </a:bodyPr>
            <a:lstStyle/>
            <a:p>
              <a:pPr algn="ctr">
                <a:lnSpc>
                  <a:spcPts val="1920"/>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DCFBB"/>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0" y="0"/>
            <a:ext cx="18288000" cy="10287000"/>
            <a:chOff x="0" y="0"/>
            <a:chExt cx="24384000" cy="13716000"/>
          </a:xfrm>
        </p:grpSpPr>
        <p:sp>
          <p:nvSpPr>
            <p:cNvPr name="Freeform 9" id="9"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5"/>
              <a:stretch>
                <a:fillRect l="0" t="0" r="0" b="0"/>
              </a:stretch>
            </a:blipFill>
          </p:spPr>
        </p:sp>
      </p:grpSp>
      <p:grpSp>
        <p:nvGrpSpPr>
          <p:cNvPr name="Group 10" id="10"/>
          <p:cNvGrpSpPr/>
          <p:nvPr/>
        </p:nvGrpSpPr>
        <p:grpSpPr>
          <a:xfrm rot="0">
            <a:off x="0" y="0"/>
            <a:ext cx="18288000" cy="10287000"/>
            <a:chOff x="0" y="0"/>
            <a:chExt cx="24384000" cy="13716000"/>
          </a:xfrm>
        </p:grpSpPr>
        <p:sp>
          <p:nvSpPr>
            <p:cNvPr name="Freeform 11" id="11"/>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9F6F0">
                <a:alpha val="72157"/>
              </a:srgbClr>
            </a:solidFill>
          </p:spPr>
        </p:sp>
      </p:grpSp>
      <p:sp>
        <p:nvSpPr>
          <p:cNvPr name="TextBox 12" id="12"/>
          <p:cNvSpPr txBox="true"/>
          <p:nvPr/>
        </p:nvSpPr>
        <p:spPr>
          <a:xfrm rot="0">
            <a:off x="992238" y="6265964"/>
            <a:ext cx="16303523" cy="1012031"/>
          </a:xfrm>
          <a:prstGeom prst="rect">
            <a:avLst/>
          </a:prstGeom>
        </p:spPr>
        <p:txBody>
          <a:bodyPr anchor="t" rtlCol="false" tIns="0" lIns="0" bIns="0" rIns="0">
            <a:spAutoFit/>
          </a:bodyPr>
          <a:lstStyle/>
          <a:p>
            <a:pPr algn="ctr">
              <a:lnSpc>
                <a:spcPts val="3562"/>
              </a:lnSpc>
            </a:pPr>
            <a:r>
              <a:rPr lang="en-US" sz="2187">
                <a:solidFill>
                  <a:srgbClr val="746558"/>
                </a:solidFill>
                <a:latin typeface="Arimo"/>
                <a:ea typeface="Arimo"/>
                <a:cs typeface="Arimo"/>
                <a:sym typeface="Arimo"/>
              </a:rPr>
              <a:t>Presented by: Meher Ali &amp; Hammad Ali</a:t>
            </a:r>
          </a:p>
        </p:txBody>
      </p:sp>
      <p:grpSp>
        <p:nvGrpSpPr>
          <p:cNvPr name="Group 13" id="13"/>
          <p:cNvGrpSpPr/>
          <p:nvPr/>
        </p:nvGrpSpPr>
        <p:grpSpPr>
          <a:xfrm rot="0">
            <a:off x="4036901" y="3842049"/>
            <a:ext cx="10214198" cy="2602901"/>
            <a:chOff x="0" y="0"/>
            <a:chExt cx="13618931" cy="3470535"/>
          </a:xfrm>
        </p:grpSpPr>
        <p:sp>
          <p:nvSpPr>
            <p:cNvPr name="TextBox 14" id="14"/>
            <p:cNvSpPr txBox="true"/>
            <p:nvPr/>
          </p:nvSpPr>
          <p:spPr>
            <a:xfrm rot="0">
              <a:off x="0" y="85725"/>
              <a:ext cx="13618931" cy="1987149"/>
            </a:xfrm>
            <a:prstGeom prst="rect">
              <a:avLst/>
            </a:prstGeom>
          </p:spPr>
          <p:txBody>
            <a:bodyPr anchor="t" rtlCol="false" tIns="0" lIns="0" bIns="0" rIns="0">
              <a:spAutoFit/>
            </a:bodyPr>
            <a:lstStyle/>
            <a:p>
              <a:pPr algn="ctr">
                <a:lnSpc>
                  <a:spcPts val="11258"/>
                </a:lnSpc>
              </a:pPr>
              <a:r>
                <a:rPr lang="en-US" sz="10234" spc="255">
                  <a:solidFill>
                    <a:srgbClr val="484237"/>
                  </a:solidFill>
                  <a:latin typeface="Forum"/>
                  <a:ea typeface="Forum"/>
                  <a:cs typeface="Forum"/>
                  <a:sym typeface="Forum"/>
                </a:rPr>
                <a:t>Thanks You!</a:t>
              </a:r>
            </a:p>
          </p:txBody>
        </p:sp>
        <p:sp>
          <p:nvSpPr>
            <p:cNvPr name="TextBox 15" id="15"/>
            <p:cNvSpPr txBox="true"/>
            <p:nvPr/>
          </p:nvSpPr>
          <p:spPr>
            <a:xfrm rot="0">
              <a:off x="293860" y="3159863"/>
              <a:ext cx="3751213" cy="310672"/>
            </a:xfrm>
            <a:prstGeom prst="rect">
              <a:avLst/>
            </a:prstGeom>
          </p:spPr>
          <p:txBody>
            <a:bodyPr anchor="t" rtlCol="false" tIns="0" lIns="0" bIns="0" rIns="0">
              <a:spAutoFit/>
            </a:bodyPr>
            <a:lstStyle/>
            <a:p>
              <a:pPr algn="ctr">
                <a:lnSpc>
                  <a:spcPts val="192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DAHGL_11tjs</dc:identifier>
  <dcterms:modified xsi:type="dcterms:W3CDTF">2011-08-01T06:04:30Z</dcterms:modified>
  <cp:revision>1</cp:revision>
  <dc:title>Jawhar</dc:title>
</cp:coreProperties>
</file>